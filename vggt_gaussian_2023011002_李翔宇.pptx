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各位老师好，我这次汇报的题目是三维重建与高斯绘制。我要解决的问题不是只渲染一张好看的图片，而是从没有标定参数的多视角图像出发，完整得到相机、点云、优化后的几何模型，以及最后可以交互查看的 3D Gaussian 结果。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整条链路可以概括成五步：首先整理输入图像，然后用 VGGT 估计相机和初始几何；接着把这些结果转换成 COLMAP 稀疏模型；再做 Bundle Adjustment；最后用 gsplat 训练高斯，并通过浏览器 viewer 查看结果。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这一页先说明任务边界。输入只有多视角 RGB 图像，没有相机内参和外参，所以第一步必须自动估计相机。输出不能停留在点云，还要有 BA 后的几何模型、Gaussian checkpoint，以及能交互浏览的结果。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我把系统目标拆成五个部分：第一，VGGT 初始化相机和点云；第二，把 VGGT 输出组织成 COLMAP 能读取的 cameras、images 和 points3D；第三，执行 BA 优化几何；第四，训练 3D Gaussian；第五，围绕帧选择和 track 质量做改进实验。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系统实现上，我没有把所有逻辑写成一个大脚本，而是拆成几个可复用阶段。`prepare_data.py` 负责抽帧或整理输入图片；`run_vggt.py` 调用安装版 VGGT 并生成 COLMAP 模型；`ba_optimize.py` 负责 BA；`train_gaussians.py` 负责高斯训练；`viewer.py` 负责网页展示。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这样拆分的好处是，每一步都有明确的文件边界。比如 VGGT 和 BA 都输出 `sparse/0`，3DGS 只需要读取这个标准模型。平台脚本也可以通过参数跳过已经完成的阶段，所以排查问题时可以只重跑后面的训练或评估。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VGGT 在这里承担几何初始化的角色。它直接从多张图像预测相机、深度和点图，不需要我手动提供标定。为了让后续 BA 能工作，还需要 tracker 生成跨视角 tracks，也就是同一个空间点在不同图像里的观测关系。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这一点非常关键。如果 VGGT 只给点云、没有可靠观测，BA 实际上无法优化。如果 tracks 数量太少，模型会很稀疏；如果 tracks 错误太多，后续 BA 会把相机和点一起拉偏，最后这些错误会传给 Gaussian 初始化。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 VGGT 到 BA 中间最关键的实现：COLMAP 导出。这里不是简单保存点云，而是要构造完整的数据关系。每张图要对应一个 COLMAP Image 和 Camera；每个有效 track 要生成一个 points3D；每个 points3D 还要记录它在哪些图像中被观测到。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我在这一步加入了可见性阈值、重投影误差阈值和 track 长度过滤。原因是 BA 依赖观测关系，如果错误观测进入优化，BA 不会自动知道它是错的，只会尝试让相机和点去解释这些错误观测。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BA 的目标函数可以理解成：把一个三维点投影到每张看到它的图片上，然后让投影位置尽量接近真实的二维观测点。优化变量包括每张图的位姿，也包括每个三维点的位置。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在本项目里，我使用 pycolmap 执行 BA，并在小数据场景下保留共享内参，减少自由度。实际流程是先检查 sparse model 是否有足够观测，再按 track 长度和误差过滤点，然后运行 BA，最后重新导出新的 `sparse/0` 作为高斯训练的输入。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这里单独回答一个问题：BA 一定会提升 3DGS 吗？答案是不一定。BA 只有在它清理了几何噪声、让相机和点更一致时，才会帮助高斯训练。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如果 BA 后相机更稳定，Gaussian 初始化的中心就更接近真实表面，densify 时也更容易沿着表面增长。反过来，如果错误 tracks 很多，BA 会把相机和点一起拉偏，高斯训练会继承这些错误，结果表现为漂浮点、毛刺或者双影。所以 BA 对 3DGS 的价值取决于 BA 前的 track 质量。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3DGS trainer 的输入是 BA 后的点云和相机。点云位置初始化为 Gaussian 的 means，颜色初始化为 SH 的低阶项，尺度根据邻近点距离初始化。训练过程中优化 means、scales、quats、opacities 和 SH colors。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loss 方面，我使用 L1 和 SSIM 作为图像监督，同时加入稀疏深度约束和可见性剪枝。针对人体数据，我又加入了 mask-aware training：前景区域计算 RGB loss，背景区域约束 alpha 变小。这样做的目的不是让背景变黑，而是减少背景或外点形成的毛刺。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训练完成之后，viewer 的作用是把 checkpoint 变成可交互验证的结果。它不是提前把所有视角渲染成视频，而是在浏览器中选择 checkpoint、选择渲染模式，然后根据当前相机实时请求后端渲染。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我还实现了 checkpoint 热更新。也就是说，训练产生新的 checkpoint 后，刷新网页就能看到新的候选模型，不需要重启服务。相机路径播放也放在前端执行，这样一个用户播放路径不会影响其他连接的客户端。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第一个改进方向是第一帧和锚点帧选择。很多视频默认从第 0 帧开始，但第 0 帧不一定清晰，也不一定和后续视角有足够重叠。如果锚点帧本身不稳定，VGGT 建立的坐标基础就可能偏。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右侧图是实际实验结果。160 帧 quality baseline 可以形成 110854 个有效 COLMAP 点；但是 160 帧 anchor 策略虽然生成了 94519 个 tracked points，最终没有形成有效 reconstruction。80 帧 coarse anchor 也类似，生成了 48021 个 tracked points，但没有通过 BA 建图。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所以这个实验给出的结论不是“anchor 一定更好”，而是 anchor 不能只按单帧质量选。下一步必须加入 overlap 下限和失败回退，否则会出现有 tracks、但没有足够多视角内点的情况。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第二个改进方向是视差感知采样。帧太相似时，新增帧只是在浪费 attention 和 tracker 预算；但视角差异太大时，图像之间没有足够重叠，也无法形成稳定 tracks。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图里比较的是每张图平均能提供多少观测。160 帧 quality baseline 大约是每图 16.4k 观测；200 帧 parallax adaptive query 下降到大约每图 8.9k。也就是说，帧数增加了，但有效共同观测没有增加。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这说明视差感知采样必须同时优化两个目标：一方面避免重复帧，另一方面保留足够 overlap。下一步应该在 greedy 采样里加入最小 overlap 约束，把孤立视角剔除掉。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第三个改进方向是自适应 query frame。现在如果固定使用 linspace，它的优点是稳定，缺点是不会区分帧质量。模糊帧、重复帧和遮挡帧都有可能被选成 query，从而浪费 tracker 预算。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这里我用“每个 3D 点平均有多少观测”作为 track 长度的近似指标。baseline 大约是 23.9，parallax adaptive query 下降到 16.8，two-stage 方案恢复到 21.5 左右。这个结果说明 query frame 不能只追求 novelty，还要保护长 tracks。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所以更合理的做法是把 query frame 分成三类：中心帧保证全局连接，高质量帧提供可靠局部特征，novelty 帧补充新视角。如果自适应策略导致平均 track 长度下降，就需要回退到更保守的 linspace 或 quality 策略。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第四个改进方向是两阶段 BA 过滤，再接 mask-aware 3DGS。第一阶段 BA 可以宽松一些，先尽量建立连接；然后根据 track 长度、重投影误差和空间离群程度过滤；第二阶段再用更干净的模型重新 BA。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右侧图展示了 two-stage 和 mask-aware 的数据。two-stage 过滤前有 109246 个点，过滤后保留 104371 个点，去掉了 4875 个弱点，同时观测数基本保持在 234 万级别。这说明过滤没有把结构删空，而是在清理低质量点。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人体数据里，数据1 和 数据2 也已经接入 mask-aware training。它的作用是前景区域继续计算 RGB loss，背景区域约束 alpha，减少背景点和外点形成的毛刺。我的最终结论是，提高重建质量的主线不是盲目增加训练步数，而是先让几何可信，再让 Gaussian 学习表面。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最后我补充一下后续可以继续开展的研究方向。前面实验暴露出的核心问题是，很多失败并不是在 Gaussian 训练阶段才产生，而是在更早的帧选择、track 建立和 BA 阶段就已经埋下了。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第一个方向是 overlap-aware 的帧选择。现在 quality 策略比较稳定，但只看清晰度还不够；anchor 实验说明，锚点帧如果和其他视角重叠不足，即使生成了 tracks，也可能无法形成有效建图。所以后续应该把清晰度、视差和共同可见区域一起作为采样目标。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第二个方向是把 VGGT 的置信度向后传播。VGGT 给出的深度、点图和 tracks 其实不应该只有通过或者删除两种状态。更合理的是把不确定性写入 COLMAP 观测和 3DGS 初始化，让 BA 和 Gaussian 训练根据置信度调整权重。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第三个方向是鲁棒 BA 诊断。现在是先过滤再 BA，后续可以按 image、track 和空间簇统计残差，自动定位坏帧、短 track 和漂浮簇，再局部重优化。第四个方向是 3DGS 训练里的几何一致性监控，把毛刺变成可观测指标，而不是只靠肉眼看最终图。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最后总结一下。这个项目完成的是从无标定多视角图像到可交互 3D Gaussian 的完整链路，而不是单点 demo。输入阶段可以抽帧或整理图片，VGGT 负责初始化相机和几何，COLMAP 格式负责承接 tracks 和 points3D，BA 负责优化一致性，gsplat 负责最后的高斯训练。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我认为最重要的结论有三点。第一，几何质量决定上限。毛刺、漂浮点和双影往往不是训练步数不够，而是 tracks、相机或者点云已经不一致。第二，BA 对 3DGS 的提升不是无条件的，它需要可靠观测作为前提，所以必须做质量门控和诊断。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第三，交互验证非常重要。viewer 现在可以热更新 checkpoint，也可以在网页里切换主场景、数据1和数据2，这让每次实验结果可以被直接查看，而不是只依赖离线指标。</a:t>
            </a:r>
            <a:endParaRPr lang="zh-CN" dirty="0"/>
          </a:p>
          <a:p>
            <a:endParaRPr lang="en-US" dirty="0"/>
          </a:p>
          <a:p>
            <a:r>
              <a:rPr lang="zh-CN" dirty="0"/>
              <a:t>后续我会围绕更稳的 VGGT 几何、更鲁棒的 BA，以及更可解释的 3DGS 去毛刺继续推进。我的汇报到这里结束，谢谢各位老师。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762000"/>
              <a:ext cx="12192000" cy="5334000"/>
            </a:xfrm>
            <a:custGeom>
              <a:avLst/>
              <a:gdLst/>
              <a:ahLst/>
              <a:cxnLst/>
              <a:rect l="l" t="t" r="r" b="b"/>
              <a:pathLst>
                <a:path w="12192000" h="5334000">
                  <a:moveTo>
                    <a:pt x="0" y="0"/>
                  </a:moveTo>
                  <a:lnTo>
                    <a:pt x="12192000" y="0"/>
                  </a:lnTo>
                  <a:moveTo>
                    <a:pt x="0" y="762000"/>
                  </a:moveTo>
                  <a:lnTo>
                    <a:pt x="12192000" y="762000"/>
                  </a:lnTo>
                  <a:moveTo>
                    <a:pt x="0" y="1524000"/>
                  </a:moveTo>
                  <a:lnTo>
                    <a:pt x="12192000" y="1524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048000"/>
                  </a:moveTo>
                  <a:lnTo>
                    <a:pt x="12192000" y="3048000"/>
                  </a:lnTo>
                  <a:moveTo>
                    <a:pt x="0" y="3810000"/>
                  </a:moveTo>
                  <a:lnTo>
                    <a:pt x="12192000" y="3810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334000"/>
                  </a:moveTo>
                  <a:lnTo>
                    <a:pt x="12192000" y="5334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762000" y="0"/>
              <a:ext cx="10668000" cy="6858000"/>
            </a:xfrm>
            <a:custGeom>
              <a:avLst/>
              <a:gdLst/>
              <a:ahLst/>
              <a:cxnLst/>
              <a:rect l="l" t="t" r="r" b="b"/>
              <a:pathLst>
                <a:path w="10668000" h="6858000">
                  <a:moveTo>
                    <a:pt x="0" y="0"/>
                  </a:moveTo>
                  <a:lnTo>
                    <a:pt x="0" y="6858000"/>
                  </a:lnTo>
                  <a:moveTo>
                    <a:pt x="762000" y="0"/>
                  </a:moveTo>
                  <a:lnTo>
                    <a:pt x="76200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0668000" y="0"/>
                  </a:moveTo>
                  <a:lnTo>
                    <a:pt x="106680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81000" y="361950"/>
              <a:ext cx="11430000" cy="6134100"/>
            </a:xfrm>
            <a:prstGeom prst="rect">
              <a:avLst/>
            </a:prstGeom>
            <a:noFill/>
            <a:ln w="14288">
              <a:solidFill>
                <a:srgbClr val="2B5570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685800" y="876300"/>
              <a:ext cx="10820400" cy="5105400"/>
            </a:xfrm>
            <a:custGeom>
              <a:avLst/>
              <a:gdLst/>
              <a:ahLst/>
              <a:cxnLst/>
              <a:rect l="l" t="t" r="r" b="b"/>
              <a:pathLst>
                <a:path w="10820400" h="5105400">
                  <a:moveTo>
                    <a:pt x="0" y="0"/>
                  </a:moveTo>
                  <a:lnTo>
                    <a:pt x="1714500" y="0"/>
                  </a:lnTo>
                  <a:moveTo>
                    <a:pt x="0" y="0"/>
                  </a:moveTo>
                  <a:lnTo>
                    <a:pt x="0" y="1714500"/>
                  </a:lnTo>
                  <a:moveTo>
                    <a:pt x="10820400" y="5105400"/>
                  </a:moveTo>
                  <a:lnTo>
                    <a:pt x="9105900" y="5105400"/>
                  </a:lnTo>
                  <a:moveTo>
                    <a:pt x="10820400" y="5105400"/>
                  </a:moveTo>
                  <a:lnTo>
                    <a:pt x="10820400" y="3390900"/>
                  </a:lnTo>
                </a:path>
              </a:pathLst>
            </a:custGeom>
            <a:noFill/>
            <a:ln w="19050">
              <a:solidFill>
                <a:srgbClr val="7DD3FC">
                  <a:alpha val="75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047750" y="1514475"/>
            <a:ext cx="5762816" cy="1741170"/>
            <a:chOff x="1047750" y="1514475"/>
            <a:chExt cx="5762816" cy="1741170"/>
          </a:xfrm>
        </p:grpSpPr>
        <p:sp>
          <p:nvSpPr>
            <p:cNvPr id="8" name="TextBox 8"/>
            <p:cNvSpPr txBox="1"/>
            <p:nvPr/>
          </p:nvSpPr>
          <p:spPr>
            <a:xfrm>
              <a:off x="1047750" y="1514475"/>
              <a:ext cx="576281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三维重建与高斯绘制</a:t>
              </a:r>
              <a:endParaRPr lang="zh-CN" sz="450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7280" y="2457450"/>
              <a:ext cx="5519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Segoe UI"/>
                  <a:ea typeface="微软雅黑"/>
                  <a:cs typeface="Segoe UI"/>
                </a:rPr>
                <a:t>VGGT 初始化 · Bundle Adjustment · 3D Gaussian Splatting</a:t>
              </a:r>
              <a:endParaRPr lang="zh-CN" sz="1500" dirty="0">
                <a:solidFill>
                  <a:srgbClr val="BFE8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962275"/>
              <a:ext cx="4871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from uncalibrated views to interactive rendering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97280" y="4181475"/>
            <a:ext cx="9913620" cy="1207770"/>
            <a:chOff x="1097280" y="4181475"/>
            <a:chExt cx="9913620" cy="1207770"/>
          </a:xfrm>
        </p:grpSpPr>
        <p:sp>
          <p:nvSpPr>
            <p:cNvPr id="12" name="Line 12"/>
            <p:cNvSpPr/>
            <p:nvPr/>
          </p:nvSpPr>
          <p:spPr>
            <a:xfrm>
              <a:off x="1181100" y="4762500"/>
              <a:ext cx="9829800" cy="9525"/>
            </a:xfrm>
            <a:custGeom>
              <a:avLst/>
              <a:gdLst/>
              <a:ahLst/>
              <a:cxnLst/>
              <a:rect l="l" t="t" r="r" b="b"/>
              <a:pathLst>
                <a:path w="9829800" h="9525">
                  <a:moveTo>
                    <a:pt x="0" y="0"/>
                  </a:moveTo>
                  <a:lnTo>
                    <a:pt x="9829800" y="0"/>
                  </a:lnTo>
                </a:path>
              </a:pathLst>
            </a:custGeom>
            <a:noFill/>
            <a:ln w="19050">
              <a:solidFill>
                <a:srgbClr val="2B5570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333500" y="4667250"/>
              <a:ext cx="190500" cy="1905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429000" y="4667250"/>
              <a:ext cx="190500" cy="1905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524500" y="4667250"/>
              <a:ext cx="190500" cy="1905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20000" y="4667250"/>
              <a:ext cx="190500" cy="1905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715500" y="4667250"/>
              <a:ext cx="190500" cy="1905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7280" y="4181475"/>
              <a:ext cx="548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INPUT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35630" y="4181475"/>
              <a:ext cx="484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VGGT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12080" y="4181475"/>
              <a:ext cx="804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COLMAP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21880" y="4181475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BA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22130" y="4181475"/>
              <a:ext cx="484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3DGS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7280" y="5095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多视角图像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45130" y="5095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相机与点云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97780" y="50958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标准稀疏模型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59930" y="5095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几何清洗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3980" y="50958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实时可交互渲染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6542" y="6236018"/>
            <a:ext cx="11017606" cy="264033"/>
            <a:chOff x="526542" y="6236018"/>
            <a:chExt cx="11017606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526542" y="6236018"/>
              <a:ext cx="14585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CA7BD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6-7 分钟课程汇报</a:t>
              </a:r>
              <a:endParaRPr lang="zh-CN" sz="1350" dirty="0">
                <a:solidFill>
                  <a:srgbClr val="7CA7BD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P01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8931949" cy="826009"/>
            <a:chOff x="518922" y="473392"/>
            <a:chExt cx="8931949" cy="826009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89319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任务不是“渲染一张图”，而是打通无标定重建链路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592" y="1035368"/>
              <a:ext cx="41998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TASK BOUNDARY / MULTI-VIEW RECONSTRUCTION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1543050"/>
            <a:ext cx="5334000" cy="4191000"/>
            <a:chOff x="533400" y="1543050"/>
            <a:chExt cx="5334000" cy="4191000"/>
          </a:xfrm>
        </p:grpSpPr>
        <p:sp>
          <p:nvSpPr>
            <p:cNvPr id="9" name="Rectangle 9"/>
            <p:cNvSpPr/>
            <p:nvPr/>
          </p:nvSpPr>
          <p:spPr>
            <a:xfrm>
              <a:off x="533400" y="1543050"/>
              <a:ext cx="5334000" cy="4191000"/>
            </a:xfrm>
            <a:prstGeom prst="roundRect">
              <a:avLst>
                <a:gd name="adj" fmla="val 1818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1530" y="18573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DD3FC"/>
                  </a:solidFill>
                  <a:latin typeface="Segoe UI"/>
                  <a:ea typeface="微软雅黑"/>
                  <a:cs typeface="Segoe UI"/>
                </a:rPr>
                <a:t>这次系统需要交付的五个能力</a:t>
              </a:r>
              <a:endParaRPr lang="zh-CN" sz="1500" b="1" dirty="0">
                <a:solidFill>
                  <a:srgbClr val="7DD3FC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819150" y="22098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2B5570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57250" y="2590800"/>
              <a:ext cx="190500" cy="1905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92530" y="2619375"/>
              <a:ext cx="3535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VGGT 从图片估计相机参数和初步点云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857250" y="3181350"/>
              <a:ext cx="190500" cy="1905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92530" y="3209925"/>
              <a:ext cx="4026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把 VGGT 输出整理成可 BA 的 COLMAP 模型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57250" y="3771900"/>
              <a:ext cx="190500" cy="1905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92530" y="3800475"/>
              <a:ext cx="3632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用 BA 后点云初始化并训练 3D Gaussian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857250" y="4362450"/>
              <a:ext cx="190500" cy="1905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92530" y="4391025"/>
              <a:ext cx="3417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提供浏览器 viewer 进行实时交互渲染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857250" y="4953000"/>
              <a:ext cx="190500" cy="1905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92530" y="4981575"/>
              <a:ext cx="38626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围绕帧选择、query 和 BA 过滤做改进实验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62700" y="1543050"/>
            <a:ext cx="5295900" cy="4191000"/>
            <a:chOff x="6362700" y="1543050"/>
            <a:chExt cx="5295900" cy="4191000"/>
          </a:xfrm>
        </p:grpSpPr>
        <p:sp>
          <p:nvSpPr>
            <p:cNvPr id="23" name="Rectangle 23"/>
            <p:cNvSpPr/>
            <p:nvPr/>
          </p:nvSpPr>
          <p:spPr>
            <a:xfrm>
              <a:off x="6362700" y="1543050"/>
              <a:ext cx="5295900" cy="4191000"/>
            </a:xfrm>
            <a:prstGeom prst="roundRect">
              <a:avLst>
                <a:gd name="adj" fmla="val 1818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786563" y="2006600"/>
              <a:ext cx="371476" cy="330201"/>
              <a:chOff x="6786563" y="2006600"/>
              <a:chExt cx="371476" cy="33020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786563" y="2006600"/>
                <a:ext cx="371476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30201">
                    <a:moveTo>
                      <a:pt x="41275" y="61913"/>
                    </a:moveTo>
                    <a:lnTo>
                      <a:pt x="61913" y="61913"/>
                    </a:lnTo>
                    <a:cubicBezTo>
                      <a:pt x="84708" y="61913"/>
                      <a:pt x="103188" y="43433"/>
                      <a:pt x="103188" y="20638"/>
                    </a:cubicBezTo>
                    <a:cubicBezTo>
                      <a:pt x="103188" y="9240"/>
                      <a:pt x="112427" y="0"/>
                      <a:pt x="123825" y="0"/>
                    </a:cubicBezTo>
                    <a:lnTo>
                      <a:pt x="247650" y="0"/>
                    </a:lnTo>
                    <a:cubicBezTo>
                      <a:pt x="259048" y="0"/>
                      <a:pt x="268288" y="9240"/>
                      <a:pt x="268288" y="20638"/>
                    </a:cubicBezTo>
                    <a:cubicBezTo>
                      <a:pt x="268288" y="43433"/>
                      <a:pt x="286767" y="61913"/>
                      <a:pt x="309563" y="61913"/>
                    </a:cubicBezTo>
                    <a:lnTo>
                      <a:pt x="330201" y="61913"/>
                    </a:lnTo>
                    <a:cubicBezTo>
                      <a:pt x="352996" y="61913"/>
                      <a:pt x="371476" y="80392"/>
                      <a:pt x="371476" y="103188"/>
                    </a:cubicBezTo>
                    <a:lnTo>
                      <a:pt x="371476" y="288925"/>
                    </a:lnTo>
                    <a:cubicBezTo>
                      <a:pt x="371476" y="311721"/>
                      <a:pt x="352996" y="330201"/>
                      <a:pt x="330201" y="330201"/>
                    </a:cubicBezTo>
                    <a:lnTo>
                      <a:pt x="41275" y="330201"/>
                    </a:lnTo>
                    <a:cubicBezTo>
                      <a:pt x="18479" y="330201"/>
                      <a:pt x="0" y="311721"/>
                      <a:pt x="0" y="288925"/>
                    </a:cubicBezTo>
                    <a:lnTo>
                      <a:pt x="0" y="103188"/>
                    </a:lnTo>
                    <a:cubicBezTo>
                      <a:pt x="0" y="80392"/>
                      <a:pt x="18479" y="61913"/>
                      <a:pt x="41275" y="61913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910388" y="2130425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0" y="61913"/>
                    </a:moveTo>
                    <a:cubicBezTo>
                      <a:pt x="0" y="96106"/>
                      <a:pt x="27719" y="123825"/>
                      <a:pt x="61913" y="123825"/>
                    </a:cubicBezTo>
                    <a:cubicBezTo>
                      <a:pt x="96106" y="123825"/>
                      <a:pt x="123825" y="96106"/>
                      <a:pt x="123825" y="61913"/>
                    </a:cubicBezTo>
                    <a:cubicBezTo>
                      <a:pt x="123825" y="27719"/>
                      <a:pt x="96106" y="0"/>
                      <a:pt x="61913" y="0"/>
                    </a:cubicBezTo>
                    <a:cubicBezTo>
                      <a:pt x="27719" y="0"/>
                      <a:pt x="0" y="27719"/>
                      <a:pt x="0" y="61913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383780" y="1990725"/>
              <a:ext cx="548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INPUT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3780" y="2371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多视角图像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83780" y="27527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无相机标定参数，是整条链路的核心约束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0" name="Freeform 30"/>
            <p:cNvSpPr/>
            <p:nvPr/>
          </p:nvSpPr>
          <p:spPr>
            <a:xfrm>
              <a:off x="7029450" y="3333750"/>
              <a:ext cx="3771900" cy="9525"/>
            </a:xfrm>
            <a:custGeom>
              <a:avLst/>
              <a:gdLst/>
              <a:ahLst/>
              <a:cxnLst/>
              <a:rect l="l" t="t" r="r" b="b"/>
              <a:pathLst>
                <a:path w="3771900" h="9525">
                  <a:moveTo>
                    <a:pt x="0" y="0"/>
                  </a:moveTo>
                  <a:lnTo>
                    <a:pt x="3771900" y="0"/>
                  </a:lnTo>
                </a:path>
              </a:pathLst>
            </a:custGeom>
            <a:noFill/>
            <a:ln w="19050">
              <a:solidFill>
                <a:srgbClr val="2B5570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10648950" y="323850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15240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2B557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786563" y="3869063"/>
              <a:ext cx="371475" cy="334638"/>
              <a:chOff x="6786563" y="3869063"/>
              <a:chExt cx="371475" cy="33463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827838" y="3869063"/>
                <a:ext cx="288925" cy="190232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190232">
                    <a:moveTo>
                      <a:pt x="0" y="126137"/>
                    </a:moveTo>
                    <a:cubicBezTo>
                      <a:pt x="0" y="90764"/>
                      <a:pt x="30131" y="62078"/>
                      <a:pt x="67278" y="62078"/>
                    </a:cubicBezTo>
                    <a:cubicBezTo>
                      <a:pt x="72954" y="36900"/>
                      <a:pt x="93178" y="16366"/>
                      <a:pt x="120358" y="8193"/>
                    </a:cubicBezTo>
                    <a:cubicBezTo>
                      <a:pt x="147538" y="0"/>
                      <a:pt x="177524" y="5428"/>
                      <a:pt x="199008" y="22433"/>
                    </a:cubicBezTo>
                    <a:cubicBezTo>
                      <a:pt x="220512" y="39397"/>
                      <a:pt x="230253" y="65359"/>
                      <a:pt x="224578" y="90537"/>
                    </a:cubicBezTo>
                    <a:lnTo>
                      <a:pt x="238879" y="90537"/>
                    </a:lnTo>
                    <a:cubicBezTo>
                      <a:pt x="266454" y="90480"/>
                      <a:pt x="288857" y="112781"/>
                      <a:pt x="288925" y="140356"/>
                    </a:cubicBezTo>
                    <a:cubicBezTo>
                      <a:pt x="288857" y="167930"/>
                      <a:pt x="266454" y="190232"/>
                      <a:pt x="238879" y="190175"/>
                    </a:cubicBezTo>
                    <a:lnTo>
                      <a:pt x="67278" y="190175"/>
                    </a:lnTo>
                    <a:cubicBezTo>
                      <a:pt x="30131" y="190175"/>
                      <a:pt x="0" y="161489"/>
                      <a:pt x="0" y="126137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972300" y="4059238"/>
                <a:ext cx="9525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1913">
                    <a:moveTo>
                      <a:pt x="0" y="0"/>
                    </a:moveTo>
                    <a:lnTo>
                      <a:pt x="0" y="61913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31025" y="4121151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13575" y="4162426"/>
                <a:ext cx="144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9525">
                    <a:moveTo>
                      <a:pt x="0" y="0"/>
                    </a:moveTo>
                    <a:lnTo>
                      <a:pt x="144463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786563" y="4162426"/>
                <a:ext cx="144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9525">
                    <a:moveTo>
                      <a:pt x="0" y="0"/>
                    </a:moveTo>
                    <a:lnTo>
                      <a:pt x="144463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383780" y="3857625"/>
              <a:ext cx="762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OUTPUT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83780" y="4238625"/>
              <a:ext cx="4173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相机参数 · 点云 · BA 模型 · 高斯 checkpoint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83780" y="4619625"/>
              <a:ext cx="38216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最终通过浏览器 viewer 进行实时交互验证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6542" y="6236018"/>
            <a:ext cx="11017606" cy="264033"/>
            <a:chOff x="526542" y="6236018"/>
            <a:chExt cx="11017606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526542" y="6236018"/>
              <a:ext cx="5411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input constraint: no calibration, only multi-view RGB frames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P02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8950676" cy="910781"/>
            <a:chOff x="518922" y="473392"/>
            <a:chExt cx="8950676" cy="910781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56688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我们把任务拆成五个可复用阶段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1782" y="973455"/>
              <a:ext cx="89278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每一阶段输出标准中间结果，后续模块只依赖 COLMAP 与 checkpoint</a:t>
              </a:r>
              <a:endParaRPr lang="zh-CN" sz="21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47700" y="2000250"/>
            <a:ext cx="10747819" cy="1695450"/>
            <a:chOff x="647700" y="2000250"/>
            <a:chExt cx="10747819" cy="1695450"/>
          </a:xfrm>
        </p:grpSpPr>
        <p:sp>
          <p:nvSpPr>
            <p:cNvPr id="9" name="Line 9"/>
            <p:cNvSpPr/>
            <p:nvPr/>
          </p:nvSpPr>
          <p:spPr>
            <a:xfrm>
              <a:off x="1314450" y="30289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28575">
              <a:solidFill>
                <a:srgbClr val="2B5570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10648950" y="2914650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19050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B557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47700" y="2000250"/>
              <a:ext cx="1714500" cy="1695450"/>
            </a:xfrm>
            <a:prstGeom prst="roundRect">
              <a:avLst>
                <a:gd name="adj" fmla="val 4494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266825" y="2298700"/>
              <a:ext cx="400049" cy="355599"/>
              <a:chOff x="1266825" y="2298700"/>
              <a:chExt cx="400049" cy="35559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266825" y="2298700"/>
                <a:ext cx="400049" cy="355599"/>
              </a:xfrm>
              <a:custGeom>
                <a:avLst/>
                <a:gdLst/>
                <a:ahLst/>
                <a:cxnLst/>
                <a:rect l="l" t="t" r="r" b="b"/>
                <a:pathLst>
                  <a:path w="400049" h="355599">
                    <a:moveTo>
                      <a:pt x="44450" y="66675"/>
                    </a:moveTo>
                    <a:lnTo>
                      <a:pt x="66675" y="66675"/>
                    </a:lnTo>
                    <a:cubicBezTo>
                      <a:pt x="91224" y="66675"/>
                      <a:pt x="111125" y="46774"/>
                      <a:pt x="111125" y="22225"/>
                    </a:cubicBezTo>
                    <a:cubicBezTo>
                      <a:pt x="111125" y="9950"/>
                      <a:pt x="121075" y="0"/>
                      <a:pt x="133350" y="0"/>
                    </a:cubicBezTo>
                    <a:lnTo>
                      <a:pt x="266700" y="0"/>
                    </a:lnTo>
                    <a:cubicBezTo>
                      <a:pt x="278974" y="0"/>
                      <a:pt x="288925" y="9950"/>
                      <a:pt x="288925" y="22225"/>
                    </a:cubicBezTo>
                    <a:cubicBezTo>
                      <a:pt x="288925" y="46774"/>
                      <a:pt x="308826" y="66675"/>
                      <a:pt x="333375" y="66675"/>
                    </a:cubicBezTo>
                    <a:lnTo>
                      <a:pt x="355599" y="66675"/>
                    </a:lnTo>
                    <a:cubicBezTo>
                      <a:pt x="380149" y="66675"/>
                      <a:pt x="400049" y="86576"/>
                      <a:pt x="400049" y="111125"/>
                    </a:cubicBezTo>
                    <a:lnTo>
                      <a:pt x="400049" y="311150"/>
                    </a:lnTo>
                    <a:cubicBezTo>
                      <a:pt x="400049" y="335699"/>
                      <a:pt x="380149" y="355599"/>
                      <a:pt x="355599" y="355599"/>
                    </a:cubicBezTo>
                    <a:lnTo>
                      <a:pt x="44450" y="355599"/>
                    </a:lnTo>
                    <a:cubicBezTo>
                      <a:pt x="19901" y="355599"/>
                      <a:pt x="0" y="335699"/>
                      <a:pt x="0" y="311150"/>
                    </a:cubicBezTo>
                    <a:lnTo>
                      <a:pt x="0" y="111125"/>
                    </a:lnTo>
                    <a:cubicBezTo>
                      <a:pt x="0" y="86576"/>
                      <a:pt x="19901" y="66675"/>
                      <a:pt x="44450" y="6667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00175" y="24320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8"/>
                      <a:pt x="29851" y="133350"/>
                      <a:pt x="66675" y="133350"/>
                    </a:cubicBezTo>
                    <a:cubicBezTo>
                      <a:pt x="103498" y="133350"/>
                      <a:pt x="133350" y="103498"/>
                      <a:pt x="133350" y="66675"/>
                    </a:cubicBezTo>
                    <a:cubicBezTo>
                      <a:pt x="133350" y="29851"/>
                      <a:pt x="103498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02030" y="2905125"/>
              <a:ext cx="8473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01 INPUT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4405" y="328612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FE8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video / images</a:t>
              </a:r>
              <a:endParaRPr lang="en-US" sz="1500" dirty="0">
                <a:solidFill>
                  <a:srgbClr val="BFE8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762250" y="2000250"/>
              <a:ext cx="1714500" cy="1695450"/>
            </a:xfrm>
            <a:prstGeom prst="roundRect">
              <a:avLst>
                <a:gd name="adj" fmla="val 4494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419475" y="2293922"/>
              <a:ext cx="400050" cy="360377"/>
              <a:chOff x="3419475" y="2293922"/>
              <a:chExt cx="400050" cy="36037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463925" y="2293922"/>
                <a:ext cx="311150" cy="204865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204865">
                    <a:moveTo>
                      <a:pt x="0" y="135839"/>
                    </a:moveTo>
                    <a:cubicBezTo>
                      <a:pt x="0" y="97745"/>
                      <a:pt x="32448" y="66853"/>
                      <a:pt x="72453" y="66853"/>
                    </a:cubicBezTo>
                    <a:cubicBezTo>
                      <a:pt x="78565" y="39738"/>
                      <a:pt x="100346" y="17624"/>
                      <a:pt x="129616" y="8823"/>
                    </a:cubicBezTo>
                    <a:cubicBezTo>
                      <a:pt x="158886" y="0"/>
                      <a:pt x="191179" y="5845"/>
                      <a:pt x="214315" y="24159"/>
                    </a:cubicBezTo>
                    <a:cubicBezTo>
                      <a:pt x="237474" y="42427"/>
                      <a:pt x="247964" y="70386"/>
                      <a:pt x="241852" y="97501"/>
                    </a:cubicBezTo>
                    <a:lnTo>
                      <a:pt x="257254" y="97501"/>
                    </a:lnTo>
                    <a:cubicBezTo>
                      <a:pt x="286950" y="97439"/>
                      <a:pt x="311076" y="121456"/>
                      <a:pt x="311150" y="151152"/>
                    </a:cubicBezTo>
                    <a:cubicBezTo>
                      <a:pt x="311076" y="180848"/>
                      <a:pt x="286950" y="204865"/>
                      <a:pt x="257254" y="204803"/>
                    </a:cubicBezTo>
                    <a:lnTo>
                      <a:pt x="72453" y="204803"/>
                    </a:lnTo>
                    <a:cubicBezTo>
                      <a:pt x="32448" y="204803"/>
                      <a:pt x="0" y="173910"/>
                      <a:pt x="0" y="135839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619500" y="2498725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575050" y="2565399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663950" y="2609849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419475" y="2609849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192780" y="2905125"/>
              <a:ext cx="78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02 VGGT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59430" y="3286125"/>
              <a:ext cx="1620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FE8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camera + tracks</a:t>
              </a:r>
              <a:endParaRPr lang="en-US" sz="1500" dirty="0">
                <a:solidFill>
                  <a:srgbClr val="BFE8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76800" y="2000250"/>
              <a:ext cx="1714500" cy="1695450"/>
            </a:xfrm>
            <a:prstGeom prst="roundRect">
              <a:avLst>
                <a:gd name="adj" fmla="val 4494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534025" y="2293922"/>
              <a:ext cx="400050" cy="360377"/>
              <a:chOff x="5534025" y="2293922"/>
              <a:chExt cx="400050" cy="36037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578475" y="2293922"/>
                <a:ext cx="311150" cy="204865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204865">
                    <a:moveTo>
                      <a:pt x="0" y="135839"/>
                    </a:moveTo>
                    <a:cubicBezTo>
                      <a:pt x="0" y="97745"/>
                      <a:pt x="32448" y="66853"/>
                      <a:pt x="72453" y="66853"/>
                    </a:cubicBezTo>
                    <a:cubicBezTo>
                      <a:pt x="78565" y="39738"/>
                      <a:pt x="100346" y="17624"/>
                      <a:pt x="129616" y="8823"/>
                    </a:cubicBezTo>
                    <a:cubicBezTo>
                      <a:pt x="158886" y="0"/>
                      <a:pt x="191179" y="5845"/>
                      <a:pt x="214315" y="24159"/>
                    </a:cubicBezTo>
                    <a:cubicBezTo>
                      <a:pt x="237474" y="42427"/>
                      <a:pt x="247964" y="70386"/>
                      <a:pt x="241852" y="97501"/>
                    </a:cubicBezTo>
                    <a:lnTo>
                      <a:pt x="257254" y="97501"/>
                    </a:lnTo>
                    <a:cubicBezTo>
                      <a:pt x="286950" y="97439"/>
                      <a:pt x="311076" y="121456"/>
                      <a:pt x="311150" y="151152"/>
                    </a:cubicBezTo>
                    <a:cubicBezTo>
                      <a:pt x="311076" y="180848"/>
                      <a:pt x="286950" y="204865"/>
                      <a:pt x="257254" y="204803"/>
                    </a:cubicBezTo>
                    <a:lnTo>
                      <a:pt x="72453" y="204803"/>
                    </a:lnTo>
                    <a:cubicBezTo>
                      <a:pt x="32448" y="204803"/>
                      <a:pt x="0" y="173910"/>
                      <a:pt x="0" y="135839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734050" y="2498725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689600" y="2565399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778500" y="2609849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534025" y="2609849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193030" y="2905125"/>
              <a:ext cx="1103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03 COLMAP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9230" y="32861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FE8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sparse / 0</a:t>
              </a:r>
              <a:endParaRPr lang="en-US" sz="1500" dirty="0">
                <a:solidFill>
                  <a:srgbClr val="BFE8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91350" y="2000250"/>
              <a:ext cx="1714500" cy="1695450"/>
            </a:xfrm>
            <a:prstGeom prst="roundRect">
              <a:avLst>
                <a:gd name="adj" fmla="val 4494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670800" y="2298700"/>
              <a:ext cx="400782" cy="411161"/>
              <a:chOff x="7670800" y="2298700"/>
              <a:chExt cx="400782" cy="41116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670800" y="238760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15250" y="22987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15250" y="2476500"/>
                <a:ext cx="952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7800">
                    <a:moveTo>
                      <a:pt x="0" y="0"/>
                    </a:moveTo>
                    <a:lnTo>
                      <a:pt x="0" y="17780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800381" y="2517976"/>
                <a:ext cx="74866" cy="91874"/>
              </a:xfrm>
              <a:custGeom>
                <a:avLst/>
                <a:gdLst/>
                <a:ahLst/>
                <a:cxnLst/>
                <a:rect l="l" t="t" r="r" b="b"/>
                <a:pathLst>
                  <a:path w="74866" h="91874">
                    <a:moveTo>
                      <a:pt x="74866" y="11842"/>
                    </a:moveTo>
                    <a:cubicBezTo>
                      <a:pt x="59389" y="254"/>
                      <a:pt x="38196" y="0"/>
                      <a:pt x="22446" y="11213"/>
                    </a:cubicBezTo>
                    <a:cubicBezTo>
                      <a:pt x="6695" y="22427"/>
                      <a:pt x="0" y="42536"/>
                      <a:pt x="5885" y="60953"/>
                    </a:cubicBezTo>
                    <a:cubicBezTo>
                      <a:pt x="11769" y="79370"/>
                      <a:pt x="28884" y="91871"/>
                      <a:pt x="48218" y="91874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48600" y="2298700"/>
                <a:ext cx="95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0">
                    <a:moveTo>
                      <a:pt x="0" y="0"/>
                    </a:moveTo>
                    <a:lnTo>
                      <a:pt x="0" y="22225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848600" y="2609849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937499" y="232092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981949" y="2298700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981949" y="2409825"/>
                <a:ext cx="9525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562">
                    <a:moveTo>
                      <a:pt x="0" y="0"/>
                    </a:moveTo>
                    <a:lnTo>
                      <a:pt x="0" y="55562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959747" y="2587624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004197" y="2554287"/>
                <a:ext cx="9525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">
                    <a:moveTo>
                      <a:pt x="0" y="0"/>
                    </a:moveTo>
                    <a:lnTo>
                      <a:pt x="0" y="33337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004197" y="2676524"/>
                <a:ext cx="9525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">
                    <a:moveTo>
                      <a:pt x="0" y="0"/>
                    </a:moveTo>
                    <a:lnTo>
                      <a:pt x="0" y="33337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042690" y="2593181"/>
                <a:ext cx="28870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28870" h="16669">
                    <a:moveTo>
                      <a:pt x="28870" y="0"/>
                    </a:move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936833" y="2654299"/>
                <a:ext cx="28892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28892" h="16669">
                    <a:moveTo>
                      <a:pt x="28892" y="0"/>
                    </a:move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936833" y="2593181"/>
                <a:ext cx="28892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28892" h="16669">
                    <a:moveTo>
                      <a:pt x="0" y="0"/>
                    </a:moveTo>
                    <a:lnTo>
                      <a:pt x="28892" y="16669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042690" y="2654299"/>
                <a:ext cx="28892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28892" h="16669">
                    <a:moveTo>
                      <a:pt x="0" y="0"/>
                    </a:moveTo>
                    <a:lnTo>
                      <a:pt x="28892" y="16669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459980" y="2905125"/>
              <a:ext cx="548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04 BA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64070" y="328612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FE8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optimized sparse</a:t>
              </a:r>
              <a:endParaRPr lang="en-US" sz="1500" dirty="0">
                <a:solidFill>
                  <a:srgbClr val="BFE8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105900" y="2000250"/>
              <a:ext cx="2095500" cy="1695450"/>
            </a:xfrm>
            <a:prstGeom prst="roundRect">
              <a:avLst>
                <a:gd name="adj" fmla="val 4494"/>
              </a:avLst>
            </a:prstGeom>
            <a:solidFill>
              <a:srgbClr val="0D2233"/>
            </a:solidFill>
            <a:ln w="19050">
              <a:solidFill>
                <a:srgbClr val="F59E0B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953625" y="2276475"/>
              <a:ext cx="409574" cy="377825"/>
              <a:chOff x="9953625" y="2276475"/>
              <a:chExt cx="409574" cy="3778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9953625" y="2498725"/>
                <a:ext cx="20002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55575">
                    <a:moveTo>
                      <a:pt x="0" y="155575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0153650" y="2276475"/>
                <a:ext cx="200025" cy="37782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377824">
                    <a:moveTo>
                      <a:pt x="0" y="0"/>
                    </a:moveTo>
                    <a:lnTo>
                      <a:pt x="0" y="222250"/>
                    </a:lnTo>
                    <a:lnTo>
                      <a:pt x="200025" y="377824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0264774" y="2476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33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0264774" y="22990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33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0353674" y="23879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33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0153650" y="26324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33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953625" y="24768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33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0042525" y="23879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33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953625" y="22990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333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688830" y="2905125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05 GSPLAT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31655" y="32861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FE8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checkpoint + viewer</a:t>
              </a:r>
              <a:endParaRPr lang="en-US" sz="1500" dirty="0">
                <a:solidFill>
                  <a:srgbClr val="BFE8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23900" y="4400550"/>
            <a:ext cx="10744200" cy="1066800"/>
            <a:chOff x="723900" y="4400550"/>
            <a:chExt cx="10744200" cy="1066800"/>
          </a:xfrm>
        </p:grpSpPr>
        <p:sp>
          <p:nvSpPr>
            <p:cNvPr id="69" name="Rectangle 69"/>
            <p:cNvSpPr/>
            <p:nvPr/>
          </p:nvSpPr>
          <p:spPr>
            <a:xfrm>
              <a:off x="723900" y="4400550"/>
              <a:ext cx="3200400" cy="1066800"/>
            </a:xfrm>
            <a:prstGeom prst="roundRect">
              <a:avLst>
                <a:gd name="adj" fmla="val 7143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63930" y="465772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CLI LAYERS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63930" y="5057775"/>
              <a:ext cx="29432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顶层脚本薄，核心逻辑进入 src/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495800" y="4400550"/>
              <a:ext cx="3200400" cy="1066800"/>
            </a:xfrm>
            <a:prstGeom prst="roundRect">
              <a:avLst>
                <a:gd name="adj" fmla="val 7143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735830" y="4657725"/>
              <a:ext cx="1114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RESUMABLE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735830" y="50577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平台脚本支持跳过已完成阶段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267700" y="4400550"/>
              <a:ext cx="3200400" cy="1066800"/>
            </a:xfrm>
            <a:prstGeom prst="roundRect">
              <a:avLst>
                <a:gd name="adj" fmla="val 7143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07730" y="4657725"/>
              <a:ext cx="7086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VIEWER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07730" y="5057775"/>
              <a:ext cx="2811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网页选择 checkpoint 并热更新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26542" y="6236018"/>
            <a:ext cx="11017606" cy="264033"/>
            <a:chOff x="526542" y="6236018"/>
            <a:chExt cx="11017606" cy="264033"/>
          </a:xfrm>
        </p:grpSpPr>
        <p:sp>
          <p:nvSpPr>
            <p:cNvPr id="79" name="TextBox 79"/>
            <p:cNvSpPr txBox="1"/>
            <p:nvPr/>
          </p:nvSpPr>
          <p:spPr>
            <a:xfrm>
              <a:off x="526542" y="6236018"/>
              <a:ext cx="8600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entrypoints: prepare_data.py / run_vggt.py / ba_optimize.py / train_gaussians.py / viewer.py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P03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8754847" cy="845059"/>
            <a:chOff x="518922" y="473392"/>
            <a:chExt cx="8754847" cy="845059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87548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VGGT 负责把无标定图片变成可优化的几何初值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592" y="1054418"/>
              <a:ext cx="3748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GEOMETRY INITIALIZATION / CAMERA GRAPH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2750" y="1390650"/>
            <a:ext cx="4514850" cy="4514850"/>
            <a:chOff x="6762750" y="1390650"/>
            <a:chExt cx="4514850" cy="4514850"/>
          </a:xfrm>
        </p:grpSpPr>
        <p:sp>
          <p:nvSpPr>
            <p:cNvPr id="9" name="Rectangle 9"/>
            <p:cNvSpPr/>
            <p:nvPr/>
          </p:nvSpPr>
          <p:spPr>
            <a:xfrm>
              <a:off x="6762750" y="1390650"/>
              <a:ext cx="4514850" cy="4514850"/>
            </a:xfrm>
            <a:prstGeom prst="roundRect">
              <a:avLst>
                <a:gd name="adj" fmla="val 1688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72300" y="1600200"/>
              <a:ext cx="4095750" cy="4095750"/>
            </a:xfrm>
            <a:prstGeom prst="rect">
              <a:avLst/>
            </a:prstGeom>
          </p:spPr>
        </p:pic>
      </p:grpSp>
      <p:grpSp>
        <p:nvGrpSpPr>
          <p:cNvPr id="47" name="Group 47"/>
          <p:cNvGrpSpPr/>
          <p:nvPr/>
        </p:nvGrpSpPr>
        <p:grpSpPr>
          <a:xfrm>
            <a:off x="866775" y="1744980"/>
            <a:ext cx="5296651" cy="4139565"/>
            <a:chOff x="866775" y="1744980"/>
            <a:chExt cx="5296651" cy="4139565"/>
          </a:xfrm>
        </p:grpSpPr>
        <p:grpSp>
          <p:nvGrpSpPr>
            <p:cNvPr id="15" name="Group 15"/>
            <p:cNvGrpSpPr/>
            <p:nvPr/>
          </p:nvGrpSpPr>
          <p:grpSpPr>
            <a:xfrm>
              <a:off x="866775" y="1746250"/>
              <a:ext cx="400049" cy="355599"/>
              <a:chOff x="866775" y="1746250"/>
              <a:chExt cx="400049" cy="35559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66775" y="1746250"/>
                <a:ext cx="400049" cy="355599"/>
              </a:xfrm>
              <a:custGeom>
                <a:avLst/>
                <a:gdLst/>
                <a:ahLst/>
                <a:cxnLst/>
                <a:rect l="l" t="t" r="r" b="b"/>
                <a:pathLst>
                  <a:path w="400049" h="355599">
                    <a:moveTo>
                      <a:pt x="44450" y="66675"/>
                    </a:moveTo>
                    <a:lnTo>
                      <a:pt x="66675" y="66675"/>
                    </a:lnTo>
                    <a:cubicBezTo>
                      <a:pt x="91224" y="66675"/>
                      <a:pt x="111125" y="46774"/>
                      <a:pt x="111125" y="22225"/>
                    </a:cubicBezTo>
                    <a:cubicBezTo>
                      <a:pt x="111125" y="9950"/>
                      <a:pt x="121075" y="0"/>
                      <a:pt x="133350" y="0"/>
                    </a:cubicBezTo>
                    <a:lnTo>
                      <a:pt x="266700" y="0"/>
                    </a:lnTo>
                    <a:cubicBezTo>
                      <a:pt x="278974" y="0"/>
                      <a:pt x="288925" y="9950"/>
                      <a:pt x="288925" y="22225"/>
                    </a:cubicBezTo>
                    <a:cubicBezTo>
                      <a:pt x="288925" y="46774"/>
                      <a:pt x="308826" y="66675"/>
                      <a:pt x="333375" y="66675"/>
                    </a:cubicBezTo>
                    <a:lnTo>
                      <a:pt x="355599" y="66675"/>
                    </a:lnTo>
                    <a:cubicBezTo>
                      <a:pt x="380149" y="66675"/>
                      <a:pt x="400049" y="86576"/>
                      <a:pt x="400049" y="111125"/>
                    </a:cubicBezTo>
                    <a:lnTo>
                      <a:pt x="400049" y="311150"/>
                    </a:lnTo>
                    <a:cubicBezTo>
                      <a:pt x="400049" y="335699"/>
                      <a:pt x="380149" y="355599"/>
                      <a:pt x="355599" y="355599"/>
                    </a:cubicBezTo>
                    <a:lnTo>
                      <a:pt x="44450" y="355599"/>
                    </a:lnTo>
                    <a:cubicBezTo>
                      <a:pt x="19901" y="355599"/>
                      <a:pt x="0" y="335699"/>
                      <a:pt x="0" y="311150"/>
                    </a:cubicBezTo>
                    <a:lnTo>
                      <a:pt x="0" y="111125"/>
                    </a:lnTo>
                    <a:cubicBezTo>
                      <a:pt x="0" y="86576"/>
                      <a:pt x="19901" y="66675"/>
                      <a:pt x="44450" y="66675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0125" y="18796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8"/>
                      <a:pt x="29851" y="133350"/>
                      <a:pt x="66675" y="133350"/>
                    </a:cubicBezTo>
                    <a:cubicBezTo>
                      <a:pt x="103498" y="133350"/>
                      <a:pt x="133350" y="103498"/>
                      <a:pt x="133350" y="66675"/>
                    </a:cubicBezTo>
                    <a:cubicBezTo>
                      <a:pt x="133350" y="29851"/>
                      <a:pt x="103498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551432" y="174498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输入是多帧图像，不提供相机标定</a:t>
              </a:r>
              <a:endParaRPr lang="zh-CN" sz="21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54480" y="2200275"/>
              <a:ext cx="4608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VGGT 直接预测相机外参、内参和 dense geometry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1066800" y="25717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19050">
              <a:solidFill>
                <a:srgbClr val="2B5570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66775" y="3436922"/>
              <a:ext cx="400050" cy="360377"/>
              <a:chOff x="866775" y="3436922"/>
              <a:chExt cx="400050" cy="36037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11225" y="3436922"/>
                <a:ext cx="311150" cy="204865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204865">
                    <a:moveTo>
                      <a:pt x="0" y="135839"/>
                    </a:moveTo>
                    <a:cubicBezTo>
                      <a:pt x="0" y="97745"/>
                      <a:pt x="32448" y="66853"/>
                      <a:pt x="72453" y="66853"/>
                    </a:cubicBezTo>
                    <a:cubicBezTo>
                      <a:pt x="78565" y="39738"/>
                      <a:pt x="100346" y="17624"/>
                      <a:pt x="129616" y="8823"/>
                    </a:cubicBezTo>
                    <a:cubicBezTo>
                      <a:pt x="158886" y="0"/>
                      <a:pt x="191179" y="5845"/>
                      <a:pt x="214315" y="24159"/>
                    </a:cubicBezTo>
                    <a:cubicBezTo>
                      <a:pt x="237474" y="42427"/>
                      <a:pt x="247964" y="70386"/>
                      <a:pt x="241852" y="97501"/>
                    </a:cubicBezTo>
                    <a:lnTo>
                      <a:pt x="257254" y="97501"/>
                    </a:lnTo>
                    <a:cubicBezTo>
                      <a:pt x="286950" y="97439"/>
                      <a:pt x="311076" y="121456"/>
                      <a:pt x="311150" y="151152"/>
                    </a:cubicBezTo>
                    <a:cubicBezTo>
                      <a:pt x="311076" y="180848"/>
                      <a:pt x="286950" y="204865"/>
                      <a:pt x="257254" y="204803"/>
                    </a:cubicBezTo>
                    <a:lnTo>
                      <a:pt x="72453" y="204803"/>
                    </a:lnTo>
                    <a:cubicBezTo>
                      <a:pt x="32448" y="204803"/>
                      <a:pt x="0" y="173910"/>
                      <a:pt x="0" y="135839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66800" y="3641725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22350" y="3708399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11250" y="3752849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66775" y="3752849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551432" y="3440430"/>
              <a:ext cx="39932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用 tracker 生成跨视角 tracks</a:t>
              </a:r>
              <a:endParaRPr lang="zh-CN" sz="21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54480" y="3895725"/>
              <a:ext cx="4130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tracks 决定后续 BA 是否有足够 3D 点和观测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1066800" y="426720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19050">
              <a:solidFill>
                <a:srgbClr val="2B5570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89000" y="5137150"/>
              <a:ext cx="400782" cy="411161"/>
              <a:chOff x="889000" y="5137150"/>
              <a:chExt cx="400782" cy="41116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89000" y="522605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33450" y="51371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33450" y="5314950"/>
                <a:ext cx="952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7800">
                    <a:moveTo>
                      <a:pt x="0" y="0"/>
                    </a:moveTo>
                    <a:lnTo>
                      <a:pt x="0" y="17780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18581" y="5356426"/>
                <a:ext cx="74866" cy="91874"/>
              </a:xfrm>
              <a:custGeom>
                <a:avLst/>
                <a:gdLst/>
                <a:ahLst/>
                <a:cxnLst/>
                <a:rect l="l" t="t" r="r" b="b"/>
                <a:pathLst>
                  <a:path w="74866" h="91874">
                    <a:moveTo>
                      <a:pt x="74866" y="11842"/>
                    </a:moveTo>
                    <a:cubicBezTo>
                      <a:pt x="59389" y="254"/>
                      <a:pt x="38196" y="0"/>
                      <a:pt x="22446" y="11213"/>
                    </a:cubicBezTo>
                    <a:cubicBezTo>
                      <a:pt x="6695" y="22427"/>
                      <a:pt x="0" y="42536"/>
                      <a:pt x="5885" y="60953"/>
                    </a:cubicBezTo>
                    <a:cubicBezTo>
                      <a:pt x="11769" y="79370"/>
                      <a:pt x="28884" y="91871"/>
                      <a:pt x="48218" y="91874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66800" y="5137150"/>
                <a:ext cx="95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0">
                    <a:moveTo>
                      <a:pt x="0" y="0"/>
                    </a:moveTo>
                    <a:lnTo>
                      <a:pt x="0" y="22225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66800" y="5448299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55699" y="51593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200149" y="5137150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200149" y="5248275"/>
                <a:ext cx="9525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562">
                    <a:moveTo>
                      <a:pt x="0" y="0"/>
                    </a:moveTo>
                    <a:lnTo>
                      <a:pt x="0" y="55562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77947" y="5426074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22397" y="5392737"/>
                <a:ext cx="9525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">
                    <a:moveTo>
                      <a:pt x="0" y="0"/>
                    </a:moveTo>
                    <a:lnTo>
                      <a:pt x="0" y="33337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222397" y="5514974"/>
                <a:ext cx="9525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">
                    <a:moveTo>
                      <a:pt x="0" y="0"/>
                    </a:moveTo>
                    <a:lnTo>
                      <a:pt x="0" y="33337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60890" y="5431631"/>
                <a:ext cx="28870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28870" h="16669">
                    <a:moveTo>
                      <a:pt x="28870" y="0"/>
                    </a:move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55033" y="5492749"/>
                <a:ext cx="28892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28892" h="16669">
                    <a:moveTo>
                      <a:pt x="28892" y="0"/>
                    </a:move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55033" y="5431631"/>
                <a:ext cx="28892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28892" h="16669">
                    <a:moveTo>
                      <a:pt x="0" y="0"/>
                    </a:moveTo>
                    <a:lnTo>
                      <a:pt x="28892" y="16669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260890" y="5492749"/>
                <a:ext cx="28892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28892" h="16669">
                    <a:moveTo>
                      <a:pt x="0" y="0"/>
                    </a:moveTo>
                    <a:lnTo>
                      <a:pt x="28892" y="16669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551432" y="5135880"/>
              <a:ext cx="36545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导出 COLMAP sparse model</a:t>
              </a:r>
              <a:endParaRPr lang="zh-CN" sz="21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54480" y="5591175"/>
              <a:ext cx="3535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后续 BA 和 3DGS 共享同一套坐标基础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6542" y="6236018"/>
            <a:ext cx="11017606" cy="264033"/>
            <a:chOff x="526542" y="6236018"/>
            <a:chExt cx="11017606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526542" y="623601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key files: run_vggt.py / vggt_runner.py / colmap.py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P04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10585155" cy="806959"/>
            <a:chOff x="518922" y="473392"/>
            <a:chExt cx="10585155" cy="806959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1058515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关键实现：把 VGGT 输出转成 BA 能理解的 COLMAP 模型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592" y="1016318"/>
              <a:ext cx="4391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VGGT PREDICTION → CAMERAS / IMAGES / POINTS3D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33400" y="1524000"/>
            <a:ext cx="11425488" cy="1428750"/>
            <a:chOff x="533400" y="1524000"/>
            <a:chExt cx="11425488" cy="1428750"/>
          </a:xfrm>
        </p:grpSpPr>
        <p:sp>
          <p:nvSpPr>
            <p:cNvPr id="9" name="Rectangle 9"/>
            <p:cNvSpPr/>
            <p:nvPr/>
          </p:nvSpPr>
          <p:spPr>
            <a:xfrm>
              <a:off x="533400" y="1524000"/>
              <a:ext cx="3333750" cy="1428750"/>
            </a:xfrm>
            <a:prstGeom prst="roundRect">
              <a:avLst>
                <a:gd name="adj" fmla="val 5333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31056" y="1815691"/>
              <a:ext cx="300037" cy="270284"/>
              <a:chOff x="831056" y="1815691"/>
              <a:chExt cx="300037" cy="27028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64394" y="1815691"/>
                <a:ext cx="233362" cy="153649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53649">
                    <a:moveTo>
                      <a:pt x="0" y="101879"/>
                    </a:moveTo>
                    <a:cubicBezTo>
                      <a:pt x="0" y="73309"/>
                      <a:pt x="24336" y="50140"/>
                      <a:pt x="54340" y="50140"/>
                    </a:cubicBezTo>
                    <a:cubicBezTo>
                      <a:pt x="58924" y="29804"/>
                      <a:pt x="75259" y="13218"/>
                      <a:pt x="97212" y="6617"/>
                    </a:cubicBezTo>
                    <a:cubicBezTo>
                      <a:pt x="119165" y="0"/>
                      <a:pt x="143385" y="4384"/>
                      <a:pt x="160737" y="18119"/>
                    </a:cubicBezTo>
                    <a:cubicBezTo>
                      <a:pt x="178106" y="31821"/>
                      <a:pt x="185973" y="52790"/>
                      <a:pt x="181389" y="73126"/>
                    </a:cubicBezTo>
                    <a:lnTo>
                      <a:pt x="192941" y="73126"/>
                    </a:lnTo>
                    <a:cubicBezTo>
                      <a:pt x="215213" y="73080"/>
                      <a:pt x="233307" y="91092"/>
                      <a:pt x="233362" y="113364"/>
                    </a:cubicBezTo>
                    <a:cubicBezTo>
                      <a:pt x="233307" y="135636"/>
                      <a:pt x="215213" y="153649"/>
                      <a:pt x="192941" y="153603"/>
                    </a:cubicBezTo>
                    <a:lnTo>
                      <a:pt x="54340" y="153603"/>
                    </a:lnTo>
                    <a:cubicBezTo>
                      <a:pt x="24336" y="153603"/>
                      <a:pt x="0" y="130433"/>
                      <a:pt x="0" y="101879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1075" y="1969294"/>
                <a:ext cx="9525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006">
                    <a:moveTo>
                      <a:pt x="0" y="0"/>
                    </a:moveTo>
                    <a:lnTo>
                      <a:pt x="0" y="50006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47738" y="20193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14412" y="2052638"/>
                <a:ext cx="1166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9525">
                    <a:moveTo>
                      <a:pt x="0" y="0"/>
                    </a:moveTo>
                    <a:lnTo>
                      <a:pt x="116681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1056" y="2052638"/>
                <a:ext cx="1166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9525">
                    <a:moveTo>
                      <a:pt x="0" y="0"/>
                    </a:moveTo>
                    <a:lnTo>
                      <a:pt x="116681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325880" y="1838325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VGGT OUTPUT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2238375"/>
              <a:ext cx="25494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相机外参、内参、深度/点图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25241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同时保留可见性置信度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3867150" y="2238375"/>
              <a:ext cx="876300" cy="9525"/>
            </a:xfrm>
            <a:custGeom>
              <a:avLst/>
              <a:gdLst/>
              <a:ahLst/>
              <a:cxnLst/>
              <a:rect l="l" t="t" r="r" b="b"/>
              <a:pathLst>
                <a:path w="876300" h="9525">
                  <a:moveTo>
                    <a:pt x="0" y="0"/>
                  </a:moveTo>
                  <a:lnTo>
                    <a:pt x="876300" y="0"/>
                  </a:lnTo>
                </a:path>
              </a:pathLst>
            </a:custGeom>
            <a:noFill/>
            <a:ln w="28575">
              <a:solidFill>
                <a:srgbClr val="7DD3F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572000" y="212407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7145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857750" y="1524000"/>
              <a:ext cx="3333750" cy="1428750"/>
            </a:xfrm>
            <a:prstGeom prst="roundRect">
              <a:avLst>
                <a:gd name="adj" fmla="val 5333"/>
              </a:avLst>
            </a:prstGeom>
            <a:solidFill>
              <a:srgbClr val="0D2233"/>
            </a:solidFill>
            <a:ln w="14288">
              <a:solidFill>
                <a:srgbClr val="F59E0B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172075" y="1819275"/>
              <a:ext cx="300587" cy="308372"/>
              <a:chOff x="5172075" y="1819275"/>
              <a:chExt cx="300587" cy="30837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5172075" y="18859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05412" y="1819275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05412" y="1952625"/>
                <a:ext cx="95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3350">
                    <a:moveTo>
                      <a:pt x="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269261" y="1983732"/>
                <a:ext cx="56150" cy="68905"/>
              </a:xfrm>
              <a:custGeom>
                <a:avLst/>
                <a:gdLst/>
                <a:ahLst/>
                <a:cxnLst/>
                <a:rect l="l" t="t" r="r" b="b"/>
                <a:pathLst>
                  <a:path w="56150" h="68905">
                    <a:moveTo>
                      <a:pt x="56150" y="8881"/>
                    </a:moveTo>
                    <a:cubicBezTo>
                      <a:pt x="44542" y="191"/>
                      <a:pt x="28647" y="0"/>
                      <a:pt x="16834" y="8410"/>
                    </a:cubicBezTo>
                    <a:cubicBezTo>
                      <a:pt x="5022" y="16820"/>
                      <a:pt x="0" y="31902"/>
                      <a:pt x="4413" y="45715"/>
                    </a:cubicBezTo>
                    <a:cubicBezTo>
                      <a:pt x="8827" y="59527"/>
                      <a:pt x="21663" y="68903"/>
                      <a:pt x="36164" y="6890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305425" y="1819275"/>
                <a:ext cx="95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6688">
                    <a:moveTo>
                      <a:pt x="0" y="0"/>
                    </a:moveTo>
                    <a:lnTo>
                      <a:pt x="0" y="166688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305425" y="2052638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372100" y="1835944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405438" y="1819275"/>
                <a:ext cx="9525" cy="166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669">
                    <a:moveTo>
                      <a:pt x="0" y="0"/>
                    </a:move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405438" y="1902619"/>
                <a:ext cx="9525" cy="4167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672">
                    <a:moveTo>
                      <a:pt x="0" y="0"/>
                    </a:moveTo>
                    <a:lnTo>
                      <a:pt x="0" y="4167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388785" y="203596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422123" y="2010966"/>
                <a:ext cx="9525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003">
                    <a:moveTo>
                      <a:pt x="0" y="0"/>
                    </a:moveTo>
                    <a:lnTo>
                      <a:pt x="0" y="25003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422123" y="2102644"/>
                <a:ext cx="9525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003">
                    <a:moveTo>
                      <a:pt x="0" y="0"/>
                    </a:moveTo>
                    <a:lnTo>
                      <a:pt x="0" y="25003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450993" y="2040136"/>
                <a:ext cx="21653" cy="12502"/>
              </a:xfrm>
              <a:custGeom>
                <a:avLst/>
                <a:gdLst/>
                <a:ahLst/>
                <a:cxnLst/>
                <a:rect l="l" t="t" r="r" b="b"/>
                <a:pathLst>
                  <a:path w="21653" h="12502">
                    <a:moveTo>
                      <a:pt x="21653" y="0"/>
                    </a:moveTo>
                    <a:lnTo>
                      <a:pt x="0" y="1250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371600" y="2085975"/>
                <a:ext cx="21669" cy="12502"/>
              </a:xfrm>
              <a:custGeom>
                <a:avLst/>
                <a:gdLst/>
                <a:ahLst/>
                <a:cxnLst/>
                <a:rect l="l" t="t" r="r" b="b"/>
                <a:pathLst>
                  <a:path w="21669" h="12502">
                    <a:moveTo>
                      <a:pt x="21669" y="0"/>
                    </a:moveTo>
                    <a:lnTo>
                      <a:pt x="0" y="1250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371600" y="2040136"/>
                <a:ext cx="21669" cy="12502"/>
              </a:xfrm>
              <a:custGeom>
                <a:avLst/>
                <a:gdLst/>
                <a:ahLst/>
                <a:cxnLst/>
                <a:rect l="l" t="t" r="r" b="b"/>
                <a:pathLst>
                  <a:path w="21669" h="12502">
                    <a:moveTo>
                      <a:pt x="0" y="0"/>
                    </a:moveTo>
                    <a:lnTo>
                      <a:pt x="21669" y="1250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450993" y="2085975"/>
                <a:ext cx="21669" cy="12502"/>
              </a:xfrm>
              <a:custGeom>
                <a:avLst/>
                <a:gdLst/>
                <a:ahLst/>
                <a:cxnLst/>
                <a:rect l="l" t="t" r="r" b="b"/>
                <a:pathLst>
                  <a:path w="21669" h="12502">
                    <a:moveTo>
                      <a:pt x="0" y="0"/>
                    </a:moveTo>
                    <a:lnTo>
                      <a:pt x="21669" y="1250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650230" y="1838325"/>
              <a:ext cx="1615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TRACK FILTERING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97780" y="2238375"/>
              <a:ext cx="3357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用 vis-thresh 和 reproj error 过滤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97780" y="2524125"/>
              <a:ext cx="2693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短 track 不进入 BA 和初始化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8191500" y="2238375"/>
              <a:ext cx="876300" cy="9525"/>
            </a:xfrm>
            <a:custGeom>
              <a:avLst/>
              <a:gdLst/>
              <a:ahLst/>
              <a:cxnLst/>
              <a:rect l="l" t="t" r="r" b="b"/>
              <a:pathLst>
                <a:path w="876300" h="9525">
                  <a:moveTo>
                    <a:pt x="0" y="0"/>
                  </a:moveTo>
                  <a:lnTo>
                    <a:pt x="876300" y="0"/>
                  </a:lnTo>
                </a:path>
              </a:pathLst>
            </a:custGeom>
            <a:noFill/>
            <a:ln w="28575">
              <a:solidFill>
                <a:srgbClr val="7DD3FC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8896350" y="212407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7145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182100" y="1524000"/>
              <a:ext cx="2476500" cy="1428750"/>
            </a:xfrm>
            <a:prstGeom prst="roundRect">
              <a:avLst>
                <a:gd name="adj" fmla="val 5333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22130" y="1838325"/>
              <a:ext cx="17594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COLMAP sparse/0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22130" y="22383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E5F2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cameras.bin</a:t>
              </a:r>
              <a:endParaRPr lang="en-US" sz="1500" dirty="0">
                <a:solidFill>
                  <a:srgbClr val="E5F2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22130" y="2524125"/>
              <a:ext cx="2536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E5F2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images.bin / points3D.bin</a:t>
              </a:r>
              <a:endParaRPr lang="en-US" sz="1500" dirty="0">
                <a:solidFill>
                  <a:srgbClr val="E5F2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33400" y="3429000"/>
            <a:ext cx="11125200" cy="2190750"/>
            <a:chOff x="533400" y="3429000"/>
            <a:chExt cx="11125200" cy="2190750"/>
          </a:xfrm>
        </p:grpSpPr>
        <p:sp>
          <p:nvSpPr>
            <p:cNvPr id="49" name="Rectangle 49"/>
            <p:cNvSpPr/>
            <p:nvPr/>
          </p:nvSpPr>
          <p:spPr>
            <a:xfrm>
              <a:off x="533400" y="3429000"/>
              <a:ext cx="5143500" cy="2190750"/>
            </a:xfrm>
            <a:prstGeom prst="roundRect">
              <a:avLst>
                <a:gd name="adj" fmla="val 3478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1530" y="3629025"/>
              <a:ext cx="1530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DATA CONTRACT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1530" y="4010025"/>
              <a:ext cx="42650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1. 每张图绑定一个 COLMAP Image 和 Camera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1530" y="4352925"/>
              <a:ext cx="39714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2. 每个有效 track 生成一个 points3D 条目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1530" y="4695825"/>
              <a:ext cx="42792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3. 每个观测保存 image_id、point2D_idx 和 xy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1530" y="5038725"/>
              <a:ext cx="45811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这一步决定 BA 有没有 3D 点和多视角观测可优化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172200" y="3429000"/>
              <a:ext cx="5486400" cy="2190750"/>
            </a:xfrm>
            <a:prstGeom prst="roundRect">
              <a:avLst>
                <a:gd name="adj" fmla="val 3478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50330" y="3629025"/>
              <a:ext cx="1583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WHY IT MATTERS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50330" y="4010025"/>
              <a:ext cx="3727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如果只有点云、没有观测，BA 无法工作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50330" y="4352925"/>
              <a:ext cx="4367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如果错误观测太多，BA 会把相机和点一起拉偏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50330" y="4695825"/>
              <a:ext cx="43264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如果 track 太短，高斯初始化会继承大量漂浮点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50330" y="50387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所以这里不是格式转换，而是几何质量控制入口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26542" y="6236018"/>
            <a:ext cx="11017606" cy="264033"/>
            <a:chOff x="526542" y="6236018"/>
            <a:chExt cx="1101760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526542" y="623601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key files: run_vggt.py / vggt_runner.py / colmap.py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P05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9010239" cy="846392"/>
            <a:chOff x="518922" y="473392"/>
            <a:chExt cx="9010239" cy="846392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901023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BA 的实现目标：同时修正相机位姿和稀疏 3D 点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3306" y="967740"/>
              <a:ext cx="6294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它不是增加点，而是让已有 tracks 在多视角投影上更一致</a:t>
              </a:r>
              <a:endParaRPr lang="zh-CN" sz="18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1524000"/>
            <a:ext cx="11125200" cy="1828800"/>
            <a:chOff x="533400" y="1524000"/>
            <a:chExt cx="11125200" cy="1828800"/>
          </a:xfrm>
        </p:grpSpPr>
        <p:sp>
          <p:nvSpPr>
            <p:cNvPr id="9" name="Rectangle 9"/>
            <p:cNvSpPr/>
            <p:nvPr/>
          </p:nvSpPr>
          <p:spPr>
            <a:xfrm>
              <a:off x="533400" y="1524000"/>
              <a:ext cx="5143500" cy="1828800"/>
            </a:xfrm>
            <a:prstGeom prst="roundRect">
              <a:avLst>
                <a:gd name="adj" fmla="val 4167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89000" y="1860550"/>
              <a:ext cx="314900" cy="323056"/>
              <a:chOff x="889000" y="1860550"/>
              <a:chExt cx="314900" cy="32305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89000" y="1930400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23925" y="1860550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23925" y="2000250"/>
                <a:ext cx="952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9700">
                    <a:moveTo>
                      <a:pt x="0" y="0"/>
                    </a:moveTo>
                    <a:lnTo>
                      <a:pt x="0" y="1397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0814" y="2032838"/>
                <a:ext cx="58823" cy="72187"/>
              </a:xfrm>
              <a:custGeom>
                <a:avLst/>
                <a:gdLst/>
                <a:ahLst/>
                <a:cxnLst/>
                <a:rect l="l" t="t" r="r" b="b"/>
                <a:pathLst>
                  <a:path w="58823" h="72187">
                    <a:moveTo>
                      <a:pt x="58823" y="9304"/>
                    </a:moveTo>
                    <a:cubicBezTo>
                      <a:pt x="46663" y="200"/>
                      <a:pt x="30011" y="0"/>
                      <a:pt x="17636" y="8811"/>
                    </a:cubicBezTo>
                    <a:cubicBezTo>
                      <a:pt x="5261" y="17621"/>
                      <a:pt x="0" y="33421"/>
                      <a:pt x="4624" y="47891"/>
                    </a:cubicBezTo>
                    <a:cubicBezTo>
                      <a:pt x="9247" y="62362"/>
                      <a:pt x="22694" y="72184"/>
                      <a:pt x="37886" y="72187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8700" y="186055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28700" y="2105024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98549" y="187801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33474" y="1860550"/>
                <a:ext cx="9525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">
                    <a:moveTo>
                      <a:pt x="0" y="0"/>
                    </a:move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133474" y="1947862"/>
                <a:ext cx="9525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3656">
                    <a:moveTo>
                      <a:pt x="0" y="0"/>
                    </a:moveTo>
                    <a:lnTo>
                      <a:pt x="0" y="43656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116029" y="208756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50954" y="2061368"/>
                <a:ext cx="95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194">
                    <a:moveTo>
                      <a:pt x="0" y="0"/>
                    </a:moveTo>
                    <a:lnTo>
                      <a:pt x="0" y="26194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150954" y="2157412"/>
                <a:ext cx="95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194">
                    <a:moveTo>
                      <a:pt x="0" y="0"/>
                    </a:moveTo>
                    <a:lnTo>
                      <a:pt x="0" y="26194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81199" y="2091928"/>
                <a:ext cx="22684" cy="13097"/>
              </a:xfrm>
              <a:custGeom>
                <a:avLst/>
                <a:gdLst/>
                <a:ahLst/>
                <a:cxnLst/>
                <a:rect l="l" t="t" r="r" b="b"/>
                <a:pathLst>
                  <a:path w="22684" h="13097">
                    <a:moveTo>
                      <a:pt x="22684" y="0"/>
                    </a:moveTo>
                    <a:lnTo>
                      <a:pt x="0" y="13097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98026" y="2139949"/>
                <a:ext cx="22701" cy="13097"/>
              </a:xfrm>
              <a:custGeom>
                <a:avLst/>
                <a:gdLst/>
                <a:ahLst/>
                <a:cxnLst/>
                <a:rect l="l" t="t" r="r" b="b"/>
                <a:pathLst>
                  <a:path w="22701" h="13097">
                    <a:moveTo>
                      <a:pt x="22701" y="0"/>
                    </a:moveTo>
                    <a:lnTo>
                      <a:pt x="0" y="13097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98026" y="2091928"/>
                <a:ext cx="22701" cy="13097"/>
              </a:xfrm>
              <a:custGeom>
                <a:avLst/>
                <a:gdLst/>
                <a:ahLst/>
                <a:cxnLst/>
                <a:rect l="l" t="t" r="r" b="b"/>
                <a:pathLst>
                  <a:path w="22701" h="13097">
                    <a:moveTo>
                      <a:pt x="0" y="0"/>
                    </a:moveTo>
                    <a:lnTo>
                      <a:pt x="22701" y="13097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81199" y="2139949"/>
                <a:ext cx="22701" cy="13097"/>
              </a:xfrm>
              <a:custGeom>
                <a:avLst/>
                <a:gdLst/>
                <a:ahLst/>
                <a:cxnLst/>
                <a:rect l="l" t="t" r="r" b="b"/>
                <a:pathLst>
                  <a:path w="22701" h="13097">
                    <a:moveTo>
                      <a:pt x="0" y="0"/>
                    </a:moveTo>
                    <a:lnTo>
                      <a:pt x="22701" y="13097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421130" y="1895475"/>
              <a:ext cx="1060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OBJECTIVE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1530" y="2409825"/>
              <a:ext cx="42016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E5F2FF"/>
                  </a:solidFill>
                  <a:latin typeface="Consolas"/>
                  <a:ea typeface="Consolas"/>
                  <a:cs typeface="Consolas"/>
                </a:rPr>
                <a:t>min Σ ρ( || project(K, R, t, X_j) - x_ij ||² )</a:t>
              </a:r>
              <a:endParaRPr lang="en-US" sz="1500" dirty="0">
                <a:solidFill>
                  <a:srgbClr val="E5F2FF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1530" y="2828925"/>
              <a:ext cx="43567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使用 robust loss 降低错误 track 对优化的影响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72200" y="1524000"/>
              <a:ext cx="5486400" cy="1828800"/>
            </a:xfrm>
            <a:prstGeom prst="roundRect">
              <a:avLst>
                <a:gd name="adj" fmla="val 4167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50330" y="1781175"/>
              <a:ext cx="2116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OPTIMIZED VARIABLES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50330" y="2200275"/>
              <a:ext cx="3337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相机外参：每张图的旋转 R 和平移 t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50330" y="2543175"/>
              <a:ext cx="34147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三维点：每个 points3D 的世界坐标 X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0330" y="288607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当前实验保持共享内参，减少小数据集上的自由度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" y="3714750"/>
            <a:ext cx="11125200" cy="1809750"/>
            <a:chOff x="533400" y="3714750"/>
            <a:chExt cx="11125200" cy="1809750"/>
          </a:xfrm>
        </p:grpSpPr>
        <p:sp>
          <p:nvSpPr>
            <p:cNvPr id="36" name="Rectangle 36"/>
            <p:cNvSpPr/>
            <p:nvPr/>
          </p:nvSpPr>
          <p:spPr>
            <a:xfrm>
              <a:off x="533400" y="3714750"/>
              <a:ext cx="11125200" cy="1809750"/>
            </a:xfrm>
            <a:prstGeom prst="roundRect">
              <a:avLst>
                <a:gd name="adj" fmla="val 4211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1530" y="3933825"/>
              <a:ext cx="2330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IMPLEMENTATION STEPS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1530" y="4352925"/>
              <a:ext cx="8838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1. 读取 VGGT 导出的 COLMAP sparse/0，检查 cameras、images、points3D 是否都有观测关系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1530" y="4695825"/>
              <a:ext cx="74058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2. 按 min-track-len 和 reprojection error 去掉不可靠点，避免错误点主导优化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1530" y="5038725"/>
              <a:ext cx="7580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3. 调用 pycolmap BA 后重新导出 sparse/0，作为 Gaussian 初始化的唯一几何来源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6542" y="6236018"/>
            <a:ext cx="11017606" cy="264033"/>
            <a:chOff x="526542" y="6236018"/>
            <a:chExt cx="11017606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526542" y="6236018"/>
              <a:ext cx="3675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key files: ba_optimize.py / colmap_ba.py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P06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11606723" cy="806959"/>
            <a:chOff x="518922" y="473392"/>
            <a:chExt cx="11606723" cy="806959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1160672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BA 对 3DGS 的提升不是必然的，取决于它是否清理了几何噪声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592" y="1016318"/>
              <a:ext cx="5716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GEOMETRY QUALITY → GAUSSIAN INITIALIZATION → RENDER QUALITY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524000"/>
            <a:ext cx="5334000" cy="3048000"/>
            <a:chOff x="533400" y="1524000"/>
            <a:chExt cx="5334000" cy="3048000"/>
          </a:xfrm>
        </p:grpSpPr>
        <p:sp>
          <p:nvSpPr>
            <p:cNvPr id="9" name="Rectangle 9"/>
            <p:cNvSpPr/>
            <p:nvPr/>
          </p:nvSpPr>
          <p:spPr>
            <a:xfrm>
              <a:off x="533400" y="1524000"/>
              <a:ext cx="5334000" cy="3048000"/>
            </a:xfrm>
            <a:prstGeom prst="roundRect">
              <a:avLst>
                <a:gd name="adj" fmla="val 2500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1530" y="1724025"/>
              <a:ext cx="1988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OBSERVATION SCALE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0894" y="2095500"/>
              <a:ext cx="4479011" cy="2190750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>
            <a:off x="6286500" y="1524000"/>
            <a:ext cx="5372100" cy="3048000"/>
            <a:chOff x="6286500" y="1524000"/>
            <a:chExt cx="5372100" cy="3048000"/>
          </a:xfrm>
        </p:grpSpPr>
        <p:sp>
          <p:nvSpPr>
            <p:cNvPr id="13" name="Rectangle 13"/>
            <p:cNvSpPr/>
            <p:nvPr/>
          </p:nvSpPr>
          <p:spPr>
            <a:xfrm>
              <a:off x="6286500" y="1524000"/>
              <a:ext cx="5372100" cy="3048000"/>
            </a:xfrm>
            <a:prstGeom prst="roundRect">
              <a:avLst>
                <a:gd name="adj" fmla="val 2500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64630" y="1743075"/>
              <a:ext cx="1476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WHEN BA HELPS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64630" y="21240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相机位姿更一致，高斯中心不会被拉成双影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4630" y="2466975"/>
              <a:ext cx="3727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3D 点重投影误差下降，初始化毛刺减少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4630" y="2809875"/>
              <a:ext cx="32865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后续 densify 更容易沿真实表面增长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572250" y="3257550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0" y="0"/>
                  </a:moveTo>
                  <a:lnTo>
                    <a:pt x="4629150" y="0"/>
                  </a:lnTo>
                </a:path>
              </a:pathLst>
            </a:custGeom>
            <a:noFill/>
            <a:ln w="9525">
              <a:solidFill>
                <a:srgbClr val="2B557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64630" y="3476625"/>
              <a:ext cx="1476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97316"/>
                  </a:solidFill>
                  <a:latin typeface="Consolas"/>
                  <a:ea typeface="Consolas"/>
                  <a:cs typeface="Consolas"/>
                </a:rPr>
                <a:t>WHEN BA HURTS</a:t>
              </a:r>
              <a:endParaRPr lang="en-US" sz="1500" dirty="0">
                <a:solidFill>
                  <a:srgbClr val="F97316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4630" y="3857625"/>
              <a:ext cx="4235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错误 tracks 进入优化，相机和点会一起被拉偏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64630" y="4200525"/>
              <a:ext cx="4026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这些偏差会在 3DGS 中表现为漂浮点和毛刺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4972050"/>
            <a:ext cx="11125200" cy="762000"/>
            <a:chOff x="533400" y="4972050"/>
            <a:chExt cx="11125200" cy="762000"/>
          </a:xfrm>
        </p:grpSpPr>
        <p:sp>
          <p:nvSpPr>
            <p:cNvPr id="23" name="Rectangle 23"/>
            <p:cNvSpPr/>
            <p:nvPr/>
          </p:nvSpPr>
          <p:spPr>
            <a:xfrm>
              <a:off x="533400" y="4972050"/>
              <a:ext cx="11125200" cy="762000"/>
            </a:xfrm>
            <a:prstGeom prst="roundRect">
              <a:avLst>
                <a:gd name="adj" fmla="val 10000"/>
              </a:avLst>
            </a:prstGeom>
            <a:solidFill>
              <a:srgbClr val="0D2233"/>
            </a:solidFill>
            <a:ln w="14288">
              <a:solidFill>
                <a:srgbClr val="F59E0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1530" y="5133975"/>
              <a:ext cx="1220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CONCLUSION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35530" y="5057775"/>
              <a:ext cx="5615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BA 的价值不是“多做一步”，而是把可优化的可靠 tracks 留下来，</a:t>
              </a:r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把不可靠几何挡在 3DGS 之前。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6542" y="6236018"/>
            <a:ext cx="11017606" cy="264033"/>
            <a:chOff x="526542" y="6236018"/>
            <a:chExt cx="11017606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526542" y="6236018"/>
              <a:ext cx="9506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analysis target: compare sparse quality before Gaussian training, then inspect renders and alpha floaters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P07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10667626" cy="846392"/>
            <a:chOff x="518922" y="473392"/>
            <a:chExt cx="10667626" cy="846392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10667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3DGS trainer：用 BA 点云初始化，再用可微渲染反向优化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3306" y="967740"/>
              <a:ext cx="9008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我们保留 gsplat 的核心策略，同时加入深度约束、可见性剪枝和 mask-aware loss</a:t>
              </a:r>
              <a:endParaRPr lang="zh-CN" sz="18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524000"/>
            <a:ext cx="5715000" cy="3067050"/>
            <a:chOff x="533400" y="1524000"/>
            <a:chExt cx="5715000" cy="3067050"/>
          </a:xfrm>
        </p:grpSpPr>
        <p:sp>
          <p:nvSpPr>
            <p:cNvPr id="9" name="Rectangle 9"/>
            <p:cNvSpPr/>
            <p:nvPr/>
          </p:nvSpPr>
          <p:spPr>
            <a:xfrm>
              <a:off x="533400" y="1524000"/>
              <a:ext cx="5715000" cy="3067050"/>
            </a:xfrm>
            <a:prstGeom prst="roundRect">
              <a:avLst>
                <a:gd name="adj" fmla="val 2484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85825" y="1852612"/>
              <a:ext cx="266700" cy="226219"/>
              <a:chOff x="885825" y="1852612"/>
              <a:chExt cx="266700" cy="22621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85825" y="2069306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85825" y="1852612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150019"/>
                    </a:moveTo>
                    <a:lnTo>
                      <a:pt x="66675" y="50006"/>
                    </a:lnTo>
                    <a:lnTo>
                      <a:pt x="133350" y="83344"/>
                    </a:lnTo>
                    <a:lnTo>
                      <a:pt x="200025" y="0"/>
                    </a:lnTo>
                    <a:lnTo>
                      <a:pt x="266700" y="66675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63980" y="18573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TRAINING SIGNALS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74676" y="2266950"/>
              <a:ext cx="4432448" cy="2095500"/>
            </a:xfrm>
            <a:prstGeom prst="rect">
              <a:avLst/>
            </a:prstGeom>
          </p:spPr>
        </p:pic>
      </p:grpSp>
      <p:grpSp>
        <p:nvGrpSpPr>
          <p:cNvPr id="33" name="Group 33"/>
          <p:cNvGrpSpPr/>
          <p:nvPr/>
        </p:nvGrpSpPr>
        <p:grpSpPr>
          <a:xfrm>
            <a:off x="6705600" y="1524000"/>
            <a:ext cx="4953000" cy="3067050"/>
            <a:chOff x="6705600" y="1524000"/>
            <a:chExt cx="4953000" cy="3067050"/>
          </a:xfrm>
        </p:grpSpPr>
        <p:sp>
          <p:nvSpPr>
            <p:cNvPr id="16" name="Rectangle 16"/>
            <p:cNvSpPr/>
            <p:nvPr/>
          </p:nvSpPr>
          <p:spPr>
            <a:xfrm>
              <a:off x="6705600" y="1524000"/>
              <a:ext cx="4953000" cy="3067050"/>
            </a:xfrm>
            <a:prstGeom prst="roundRect">
              <a:avLst>
                <a:gd name="adj" fmla="val 2484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1356" y="1802606"/>
              <a:ext cx="309563" cy="283369"/>
              <a:chOff x="7041356" y="1802606"/>
              <a:chExt cx="309563" cy="28336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041356" y="1969294"/>
                <a:ext cx="150019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16681">
                    <a:moveTo>
                      <a:pt x="0" y="116681"/>
                    </a:moveTo>
                    <a:lnTo>
                      <a:pt x="150019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191375" y="1802606"/>
                <a:ext cx="150019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283369">
                    <a:moveTo>
                      <a:pt x="0" y="0"/>
                    </a:moveTo>
                    <a:lnTo>
                      <a:pt x="0" y="166688"/>
                    </a:lnTo>
                    <a:lnTo>
                      <a:pt x="150019" y="28336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74719" y="1952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74719" y="1819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341394" y="1886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191375" y="20695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041356" y="1952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108031" y="1886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41356" y="1819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536180" y="1857375"/>
              <a:ext cx="1924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PARAMETER GROUPS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83730" y="2314575"/>
              <a:ext cx="3714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means：高斯中心，来自 BA 后 points3D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83730" y="2695575"/>
              <a:ext cx="343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scales / quats：控制椭球大小与方向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83730" y="3076575"/>
              <a:ext cx="3538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opacities：决定可见密度，也参与剪枝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83730" y="3457575"/>
              <a:ext cx="44885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SH colors：从 RGB 初始化，逐步提高 SH degree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83730" y="3838575"/>
              <a:ext cx="288925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每组参数使用独立 Adam 学习率，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避免一个 lr 同时控制所有物理量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4972050"/>
            <a:ext cx="11125200" cy="781050"/>
            <a:chOff x="533400" y="4972050"/>
            <a:chExt cx="11125200" cy="781050"/>
          </a:xfrm>
        </p:grpSpPr>
        <p:sp>
          <p:nvSpPr>
            <p:cNvPr id="34" name="Rectangle 34"/>
            <p:cNvSpPr/>
            <p:nvPr/>
          </p:nvSpPr>
          <p:spPr>
            <a:xfrm>
              <a:off x="533400" y="4972050"/>
              <a:ext cx="3429000" cy="781050"/>
            </a:xfrm>
            <a:prstGeom prst="roundRect">
              <a:avLst>
                <a:gd name="adj" fmla="val 9756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2292" y="5131118"/>
              <a:ext cx="11370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PHOTO LOSS</a:t>
              </a:r>
              <a:endParaRPr lang="en-US" sz="135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1530" y="5400675"/>
              <a:ext cx="2298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L1 + SSIM 对齐训练图像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81500" y="4972050"/>
              <a:ext cx="3429000" cy="781050"/>
            </a:xfrm>
            <a:prstGeom prst="roundRect">
              <a:avLst>
                <a:gd name="adj" fmla="val 9756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60392" y="5131118"/>
              <a:ext cx="162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DEPTH / VISIBILITY</a:t>
              </a:r>
              <a:endParaRPr lang="en-US" sz="135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59630" y="54006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稀疏深度和多视角可见性约束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229600" y="4972050"/>
              <a:ext cx="3429000" cy="781050"/>
            </a:xfrm>
            <a:prstGeom prst="roundRect">
              <a:avLst>
                <a:gd name="adj" fmla="val 9756"/>
              </a:avLst>
            </a:prstGeom>
            <a:solidFill>
              <a:srgbClr val="0D2233"/>
            </a:solidFill>
            <a:ln w="14288">
              <a:solidFill>
                <a:srgbClr val="F59E0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08492" y="5131118"/>
              <a:ext cx="11466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MASK-AWARE</a:t>
              </a:r>
              <a:endParaRPr lang="en-US" sz="135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07730" y="5400675"/>
              <a:ext cx="2974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前景 RGB loss + 背景 alpha 惩罚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6542" y="6236018"/>
            <a:ext cx="11017606" cy="264033"/>
            <a:chOff x="526542" y="6236018"/>
            <a:chExt cx="11017606" cy="264033"/>
          </a:xfrm>
        </p:grpSpPr>
        <p:sp>
          <p:nvSpPr>
            <p:cNvPr id="44" name="TextBox 44"/>
            <p:cNvSpPr txBox="1"/>
            <p:nvPr/>
          </p:nvSpPr>
          <p:spPr>
            <a:xfrm>
              <a:off x="526542" y="6236018"/>
              <a:ext cx="4657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key files: train_gaussians.py / gaussian_trainer.py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P08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10664205" cy="806959"/>
            <a:chOff x="518922" y="473392"/>
            <a:chExt cx="10664205" cy="806959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1066420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viewer 的作用：把 checkpoint 变成可交互验证的重建结果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592" y="1016318"/>
              <a:ext cx="5736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BROWSER UI / CHECKPOINT HOT RELOAD / CAMERA PATH PLAYBACK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504950"/>
            <a:ext cx="6191250" cy="3486150"/>
            <a:chOff x="533400" y="1504950"/>
            <a:chExt cx="6191250" cy="3486150"/>
          </a:xfrm>
        </p:grpSpPr>
        <p:sp>
          <p:nvSpPr>
            <p:cNvPr id="9" name="Rectangle 9"/>
            <p:cNvSpPr/>
            <p:nvPr/>
          </p:nvSpPr>
          <p:spPr>
            <a:xfrm>
              <a:off x="533400" y="1504950"/>
              <a:ext cx="6191250" cy="3486150"/>
            </a:xfrm>
            <a:prstGeom prst="roundRect">
              <a:avLst>
                <a:gd name="adj" fmla="val 2186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70686" y="1809750"/>
              <a:ext cx="5116679" cy="2857500"/>
            </a:xfrm>
            <a:prstGeom prst="rect">
              <a:avLst/>
            </a:prstGeom>
          </p:spPr>
        </p:pic>
      </p:grpSp>
      <p:grpSp>
        <p:nvGrpSpPr>
          <p:cNvPr id="27" name="Group 27"/>
          <p:cNvGrpSpPr/>
          <p:nvPr/>
        </p:nvGrpSpPr>
        <p:grpSpPr>
          <a:xfrm>
            <a:off x="7124700" y="1504950"/>
            <a:ext cx="4634865" cy="3486150"/>
            <a:chOff x="7124700" y="1504950"/>
            <a:chExt cx="4634865" cy="3486150"/>
          </a:xfrm>
        </p:grpSpPr>
        <p:sp>
          <p:nvSpPr>
            <p:cNvPr id="13" name="Rectangle 13"/>
            <p:cNvSpPr/>
            <p:nvPr/>
          </p:nvSpPr>
          <p:spPr>
            <a:xfrm>
              <a:off x="7124700" y="1504950"/>
              <a:ext cx="4533900" cy="3486150"/>
            </a:xfrm>
            <a:prstGeom prst="roundRect">
              <a:avLst>
                <a:gd name="adj" fmla="val 2186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462837" y="1822450"/>
              <a:ext cx="314324" cy="288924"/>
              <a:chOff x="7462837" y="1822450"/>
              <a:chExt cx="314324" cy="28892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462837" y="1822450"/>
                <a:ext cx="31432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9525">
                    <a:moveTo>
                      <a:pt x="0" y="0"/>
                    </a:moveTo>
                    <a:lnTo>
                      <a:pt x="314324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480300" y="1822450"/>
                <a:ext cx="279399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209550">
                    <a:moveTo>
                      <a:pt x="0" y="0"/>
                    </a:moveTo>
                    <a:lnTo>
                      <a:pt x="0" y="174625"/>
                    </a:lnTo>
                    <a:cubicBezTo>
                      <a:pt x="0" y="193913"/>
                      <a:pt x="15636" y="209550"/>
                      <a:pt x="34925" y="209550"/>
                    </a:cubicBezTo>
                    <a:lnTo>
                      <a:pt x="244475" y="209550"/>
                    </a:lnTo>
                    <a:cubicBezTo>
                      <a:pt x="263763" y="209550"/>
                      <a:pt x="279399" y="193913"/>
                      <a:pt x="279399" y="174625"/>
                    </a:cubicBezTo>
                    <a:lnTo>
                      <a:pt x="279399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620000" y="2031999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567612" y="2101849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550150" y="1892300"/>
                <a:ext cx="13970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9850">
                    <a:moveTo>
                      <a:pt x="0" y="69850"/>
                    </a:moveTo>
                    <a:lnTo>
                      <a:pt x="52387" y="17462"/>
                    </a:lnTo>
                    <a:lnTo>
                      <a:pt x="87312" y="52387"/>
                    </a:ln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7974330" y="1857375"/>
              <a:ext cx="1402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SERVICE FLOW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02830" y="2390775"/>
              <a:ext cx="4003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1. 前端刷新时扫描 runs 下最新 checkpoint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02830" y="2771775"/>
              <a:ext cx="3326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2. 用户在网页中选择模型和渲染模式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02830" y="3152775"/>
              <a:ext cx="43567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3. 相机路径在浏览器端播放，不改变其他 client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02830" y="3533775"/>
              <a:ext cx="399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4. 后端按当前相机实时 rasterize 返回图像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7410450" y="4000500"/>
              <a:ext cx="3790950" cy="9525"/>
            </a:xfrm>
            <a:custGeom>
              <a:avLst/>
              <a:gdLst/>
              <a:ahLst/>
              <a:cxnLst/>
              <a:rect l="l" t="t" r="r" b="b"/>
              <a:pathLst>
                <a:path w="3790950" h="9525">
                  <a:moveTo>
                    <a:pt x="0" y="0"/>
                  </a:moveTo>
                  <a:lnTo>
                    <a:pt x="3790950" y="0"/>
                  </a:lnTo>
                </a:path>
              </a:pathLst>
            </a:custGeom>
            <a:noFill/>
            <a:ln w="9525">
              <a:solidFill>
                <a:srgbClr val="2B557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02830" y="4238625"/>
              <a:ext cx="368363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这个设计避免提前渲染整条轨迹，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也支持新 checkpoint 不重启服务即可访问。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6542" y="6236018"/>
            <a:ext cx="11017606" cy="264033"/>
            <a:chOff x="526542" y="6236018"/>
            <a:chExt cx="11017606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526542" y="6236018"/>
              <a:ext cx="5901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key files: viewer.py / scripts/start_online_inference_service.sh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P09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" y="1646555"/>
            <a:ext cx="5518785" cy="302069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613400" y="1892300"/>
            <a:ext cx="1402080" cy="250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10966343" cy="806959"/>
            <a:chOff x="518922" y="473392"/>
            <a:chExt cx="10966343" cy="806959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1096634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改进方法一：第一帧不默认取第 0 帧，而是选择稳定几何锚点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592" y="1016318"/>
              <a:ext cx="2308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ANCHOR FRAME SELECTION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1524000"/>
            <a:ext cx="11125200" cy="3314700"/>
            <a:chOff x="533400" y="1524000"/>
            <a:chExt cx="11125200" cy="3314700"/>
          </a:xfrm>
        </p:grpSpPr>
        <p:sp>
          <p:nvSpPr>
            <p:cNvPr id="9" name="Rectangle 9"/>
            <p:cNvSpPr/>
            <p:nvPr/>
          </p:nvSpPr>
          <p:spPr>
            <a:xfrm>
              <a:off x="533400" y="1524000"/>
              <a:ext cx="4533900" cy="3314700"/>
            </a:xfrm>
            <a:prstGeom prst="roundRect">
              <a:avLst>
                <a:gd name="adj" fmla="val 2299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71537" y="1860550"/>
              <a:ext cx="314324" cy="279399"/>
              <a:chOff x="871537" y="1860550"/>
              <a:chExt cx="314324" cy="27939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71537" y="1860550"/>
                <a:ext cx="314324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279399">
                    <a:moveTo>
                      <a:pt x="34925" y="52387"/>
                    </a:moveTo>
                    <a:lnTo>
                      <a:pt x="52387" y="52387"/>
                    </a:lnTo>
                    <a:cubicBezTo>
                      <a:pt x="71676" y="52387"/>
                      <a:pt x="87312" y="36751"/>
                      <a:pt x="87312" y="17462"/>
                    </a:cubicBezTo>
                    <a:cubicBezTo>
                      <a:pt x="87312" y="7818"/>
                      <a:pt x="95131" y="0"/>
                      <a:pt x="104775" y="0"/>
                    </a:cubicBezTo>
                    <a:lnTo>
                      <a:pt x="209550" y="0"/>
                    </a:lnTo>
                    <a:cubicBezTo>
                      <a:pt x="219194" y="0"/>
                      <a:pt x="227012" y="7818"/>
                      <a:pt x="227012" y="17462"/>
                    </a:cubicBezTo>
                    <a:cubicBezTo>
                      <a:pt x="227012" y="36751"/>
                      <a:pt x="242649" y="52387"/>
                      <a:pt x="261937" y="52387"/>
                    </a:cubicBezTo>
                    <a:lnTo>
                      <a:pt x="279399" y="52387"/>
                    </a:lnTo>
                    <a:cubicBezTo>
                      <a:pt x="298688" y="52387"/>
                      <a:pt x="314324" y="68024"/>
                      <a:pt x="314324" y="87312"/>
                    </a:cubicBezTo>
                    <a:lnTo>
                      <a:pt x="314324" y="244475"/>
                    </a:lnTo>
                    <a:cubicBezTo>
                      <a:pt x="314324" y="263763"/>
                      <a:pt x="298688" y="279399"/>
                      <a:pt x="279399" y="279399"/>
                    </a:cubicBezTo>
                    <a:lnTo>
                      <a:pt x="34925" y="279399"/>
                    </a:lnTo>
                    <a:cubicBezTo>
                      <a:pt x="15636" y="279399"/>
                      <a:pt x="0" y="263763"/>
                      <a:pt x="0" y="244475"/>
                    </a:cubicBezTo>
                    <a:lnTo>
                      <a:pt x="0" y="87312"/>
                    </a:lnTo>
                    <a:cubicBezTo>
                      <a:pt x="0" y="68024"/>
                      <a:pt x="15636" y="52387"/>
                      <a:pt x="34925" y="52387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76312" y="1965325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7"/>
                    </a:moveTo>
                    <a:cubicBezTo>
                      <a:pt x="0" y="81320"/>
                      <a:pt x="23455" y="104775"/>
                      <a:pt x="52387" y="104775"/>
                    </a:cubicBezTo>
                    <a:cubicBezTo>
                      <a:pt x="81320" y="104775"/>
                      <a:pt x="104775" y="81320"/>
                      <a:pt x="104775" y="52387"/>
                    </a:cubicBezTo>
                    <a:cubicBezTo>
                      <a:pt x="104775" y="23455"/>
                      <a:pt x="81320" y="0"/>
                      <a:pt x="52387" y="0"/>
                    </a:cubicBezTo>
                    <a:cubicBezTo>
                      <a:pt x="23455" y="0"/>
                      <a:pt x="0" y="23455"/>
                      <a:pt x="0" y="52387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83030" y="1895475"/>
              <a:ext cx="1658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SCORING SIGNALS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1530" y="2428875"/>
              <a:ext cx="40470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清晰度：Laplacian variance，避免运动模糊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1530" y="28479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曝光稳定：避免过暗、过亮或强反光帧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1530" y="3267075"/>
              <a:ext cx="3023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中心性：与其他帧有足够 overlap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1530" y="36861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覆盖性：能连接前后视角，不是孤立视角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1530" y="4181475"/>
              <a:ext cx="4666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目标是让 VGGT 的坐标系从稳定参考帧开始建立。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448300" y="1524000"/>
              <a:ext cx="6210300" cy="3314700"/>
            </a:xfrm>
            <a:prstGeom prst="roundRect">
              <a:avLst>
                <a:gd name="adj" fmla="val 2299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26430" y="1781175"/>
              <a:ext cx="1946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EXPERIMENT RESULT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879956" y="2095500"/>
              <a:ext cx="5346989" cy="2476500"/>
            </a:xfrm>
            <a:prstGeom prst="rect">
              <a:avLst/>
            </a:prstGeom>
          </p:spPr>
        </p:pic>
      </p:grpSp>
      <p:grpSp>
        <p:nvGrpSpPr>
          <p:cNvPr id="27" name="Group 27"/>
          <p:cNvGrpSpPr/>
          <p:nvPr/>
        </p:nvGrpSpPr>
        <p:grpSpPr>
          <a:xfrm>
            <a:off x="525780" y="5191125"/>
            <a:ext cx="11018368" cy="1308926"/>
            <a:chOff x="525780" y="5191125"/>
            <a:chExt cx="11018368" cy="1308926"/>
          </a:xfrm>
        </p:grpSpPr>
        <p:sp>
          <p:nvSpPr>
            <p:cNvPr id="23" name="TextBox 23"/>
            <p:cNvSpPr txBox="1"/>
            <p:nvPr/>
          </p:nvSpPr>
          <p:spPr>
            <a:xfrm>
              <a:off x="525780" y="5191125"/>
              <a:ext cx="9812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结论：anchor 策略生成了 94519 / 48021 个 tracked points，但没有形成有效 COLMAP reconstruction。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5780" y="5514975"/>
              <a:ext cx="59317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下一步不能只选“最强锚点”，必须加入 overlap 下限和失败回退。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6542" y="6236018"/>
              <a:ext cx="86916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related: frame_selection.py / prepare_data.py / vggt_precision_01_anchor_frame_selection.log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P10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10905915" cy="806959"/>
            <a:chOff x="518922" y="473392"/>
            <a:chExt cx="10905915" cy="806959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1090591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改进方法二：视差感知采样，在重复帧和断裂视角之间找平衡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592" y="1016318"/>
              <a:ext cx="3153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PARALLAX-AWARE FRAME SELECTION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524000"/>
            <a:ext cx="5334000" cy="3067050"/>
            <a:chOff x="533400" y="1524000"/>
            <a:chExt cx="5334000" cy="3067050"/>
          </a:xfrm>
        </p:grpSpPr>
        <p:sp>
          <p:nvSpPr>
            <p:cNvPr id="9" name="Rectangle 9"/>
            <p:cNvSpPr/>
            <p:nvPr/>
          </p:nvSpPr>
          <p:spPr>
            <a:xfrm>
              <a:off x="533400" y="1524000"/>
              <a:ext cx="5334000" cy="3067050"/>
            </a:xfrm>
            <a:prstGeom prst="roundRect">
              <a:avLst>
                <a:gd name="adj" fmla="val 2484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81050" y="1879834"/>
              <a:ext cx="4838700" cy="2241082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6286500" y="1524000"/>
            <a:ext cx="5372100" cy="3067050"/>
            <a:chOff x="6286500" y="1524000"/>
            <a:chExt cx="5372100" cy="3067050"/>
          </a:xfrm>
        </p:grpSpPr>
        <p:sp>
          <p:nvSpPr>
            <p:cNvPr id="12" name="Rectangle 12"/>
            <p:cNvSpPr/>
            <p:nvPr/>
          </p:nvSpPr>
          <p:spPr>
            <a:xfrm>
              <a:off x="6286500" y="1524000"/>
              <a:ext cx="5372100" cy="3067050"/>
            </a:xfrm>
            <a:prstGeom prst="roundRect">
              <a:avLst>
                <a:gd name="adj" fmla="val 2484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64630" y="1781175"/>
              <a:ext cx="1594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SELECTION RULE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4630" y="22002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重复帧太多：attention 预算浪费，新增几何少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64630" y="2581275"/>
              <a:ext cx="3549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视差过大：overlap 不足，tracks 断裂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4630" y="2962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目标：保留足够重叠，同时扩大视角覆盖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6572250" y="3429000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0" y="0"/>
                  </a:moveTo>
                  <a:lnTo>
                    <a:pt x="4629150" y="0"/>
                  </a:lnTo>
                </a:path>
              </a:pathLst>
            </a:custGeom>
            <a:noFill/>
            <a:ln w="9525">
              <a:solidFill>
                <a:srgbClr val="2B557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64630" y="3686175"/>
              <a:ext cx="388493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实验结果：160 帧 quality 每图约 16.4k 观测，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200 帧 parallax 下降到约 8.9k。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72250" y="4195445"/>
              <a:ext cx="50432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说明采样不能只追求视角差异，还要显式控制 overlap。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4972050"/>
            <a:ext cx="11125200" cy="781050"/>
            <a:chOff x="533400" y="4972050"/>
            <a:chExt cx="11125200" cy="781050"/>
          </a:xfrm>
        </p:grpSpPr>
        <p:sp>
          <p:nvSpPr>
            <p:cNvPr id="21" name="Rectangle 21"/>
            <p:cNvSpPr/>
            <p:nvPr/>
          </p:nvSpPr>
          <p:spPr>
            <a:xfrm>
              <a:off x="533400" y="4972050"/>
              <a:ext cx="11125200" cy="781050"/>
            </a:xfrm>
            <a:prstGeom prst="roundRect">
              <a:avLst>
                <a:gd name="adj" fmla="val 9756"/>
              </a:avLst>
            </a:prstGeom>
            <a:solidFill>
              <a:srgbClr val="0D2233"/>
            </a:solidFill>
            <a:ln w="14288">
              <a:solidFill>
                <a:srgbClr val="F59E0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2292" y="5131118"/>
              <a:ext cx="9930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ALGORITHM</a:t>
              </a:r>
              <a:endParaRPr lang="en-US" sz="135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92630" y="5114925"/>
              <a:ext cx="9324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候选帧先按质量过滤，再按图像差异和时间间隔做 greedy 选择，最后用最小 overlap 规则剔除孤立帧。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6542" y="6236018"/>
            <a:ext cx="11017606" cy="264033"/>
            <a:chOff x="526542" y="6236018"/>
            <a:chExt cx="11017606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526542" y="6236018"/>
              <a:ext cx="4911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experiment: baseline quality vs parallax adaptive query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P11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12416604" cy="806959"/>
            <a:chOff x="518922" y="473392"/>
            <a:chExt cx="12416604" cy="806959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124166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改进方法三：自适应 query frame，让 tracker 关注更有信息量的帧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592" y="1016318"/>
              <a:ext cx="4535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ADAPTIVE QUERY FRAMES / TRACK DENSITY CONTROL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1524000"/>
            <a:ext cx="5482971" cy="3429000"/>
            <a:chOff x="533400" y="1524000"/>
            <a:chExt cx="5482971" cy="3429000"/>
          </a:xfrm>
        </p:grpSpPr>
        <p:sp>
          <p:nvSpPr>
            <p:cNvPr id="9" name="Rectangle 9"/>
            <p:cNvSpPr/>
            <p:nvPr/>
          </p:nvSpPr>
          <p:spPr>
            <a:xfrm>
              <a:off x="533400" y="1524000"/>
              <a:ext cx="4953000" cy="3429000"/>
            </a:xfrm>
            <a:prstGeom prst="roundRect">
              <a:avLst>
                <a:gd name="adj" fmla="val 2222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71537" y="1856795"/>
              <a:ext cx="314325" cy="283154"/>
              <a:chOff x="871537" y="1856795"/>
              <a:chExt cx="314325" cy="28315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06462" y="1856795"/>
                <a:ext cx="244475" cy="16096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160965">
                    <a:moveTo>
                      <a:pt x="0" y="106731"/>
                    </a:moveTo>
                    <a:cubicBezTo>
                      <a:pt x="0" y="76800"/>
                      <a:pt x="25495" y="52527"/>
                      <a:pt x="56928" y="52527"/>
                    </a:cubicBezTo>
                    <a:cubicBezTo>
                      <a:pt x="61730" y="31223"/>
                      <a:pt x="78843" y="13848"/>
                      <a:pt x="101841" y="6933"/>
                    </a:cubicBezTo>
                    <a:cubicBezTo>
                      <a:pt x="124839" y="0"/>
                      <a:pt x="150212" y="4593"/>
                      <a:pt x="168391" y="18982"/>
                    </a:cubicBezTo>
                    <a:cubicBezTo>
                      <a:pt x="186586" y="33336"/>
                      <a:pt x="194829" y="55304"/>
                      <a:pt x="190027" y="76608"/>
                    </a:cubicBezTo>
                    <a:lnTo>
                      <a:pt x="202128" y="76608"/>
                    </a:lnTo>
                    <a:cubicBezTo>
                      <a:pt x="225460" y="76560"/>
                      <a:pt x="244417" y="95430"/>
                      <a:pt x="244475" y="118762"/>
                    </a:cubicBezTo>
                    <a:cubicBezTo>
                      <a:pt x="244417" y="142095"/>
                      <a:pt x="225460" y="160965"/>
                      <a:pt x="202128" y="160917"/>
                    </a:cubicBezTo>
                    <a:lnTo>
                      <a:pt x="56928" y="160917"/>
                    </a:lnTo>
                    <a:cubicBezTo>
                      <a:pt x="25495" y="160917"/>
                      <a:pt x="0" y="136644"/>
                      <a:pt x="0" y="106731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28700" y="2017712"/>
                <a:ext cx="9525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7">
                    <a:moveTo>
                      <a:pt x="0" y="0"/>
                    </a:moveTo>
                    <a:lnTo>
                      <a:pt x="0" y="52387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3775" y="2070099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63625" y="2105024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1537" y="2105024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19050">
                <a:solidFill>
                  <a:srgbClr val="7DD3F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383030" y="1895475"/>
              <a:ext cx="922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PROBLEM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1530" y="2409825"/>
              <a:ext cx="4366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固定 linspace query 简单稳定，但不区分帧质量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1530" y="2828925"/>
              <a:ext cx="41447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模糊帧、遮挡帧、重复帧会占用 tracker 预算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1530" y="3248025"/>
              <a:ext cx="52048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query 太少，tracks 稀疏；query 太多，耗时和噪声上升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819150" y="3733800"/>
              <a:ext cx="4438650" cy="9525"/>
            </a:xfrm>
            <a:custGeom>
              <a:avLst/>
              <a:gdLst/>
              <a:ahLst/>
              <a:cxnLst/>
              <a:rect l="l" t="t" r="r" b="b"/>
              <a:pathLst>
                <a:path w="4438650" h="9525">
                  <a:moveTo>
                    <a:pt x="0" y="0"/>
                  </a:moveTo>
                  <a:lnTo>
                    <a:pt x="4438650" y="0"/>
                  </a:lnTo>
                </a:path>
              </a:pathLst>
            </a:custGeom>
            <a:noFill/>
            <a:ln w="9525">
              <a:solidFill>
                <a:srgbClr val="2B557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1530" y="4010025"/>
              <a:ext cx="340804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因此 query frame 应该跟随场景信息量，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而不是只跟随帧序号。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81700" y="1524000"/>
            <a:ext cx="5676900" cy="3435350"/>
            <a:chOff x="5981700" y="1524000"/>
            <a:chExt cx="5676900" cy="3435350"/>
          </a:xfrm>
        </p:grpSpPr>
        <p:sp>
          <p:nvSpPr>
            <p:cNvPr id="23" name="Rectangle 23"/>
            <p:cNvSpPr/>
            <p:nvPr/>
          </p:nvSpPr>
          <p:spPr>
            <a:xfrm>
              <a:off x="5981700" y="1524000"/>
              <a:ext cx="5676900" cy="3429000"/>
            </a:xfrm>
            <a:prstGeom prst="roundRect">
              <a:avLst>
                <a:gd name="adj" fmla="val 2222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59830" y="1781175"/>
              <a:ext cx="1871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EXPERIMENT PROXY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290613" y="2114550"/>
              <a:ext cx="5059074" cy="234315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6259830" y="4497705"/>
              <a:ext cx="378523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parallax + quality query 的平均观测/点下降，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说明 query 策略需要显式保护长 tracks。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5780" y="5267325"/>
            <a:ext cx="11018368" cy="1232726"/>
            <a:chOff x="525780" y="5267325"/>
            <a:chExt cx="11018368" cy="1232726"/>
          </a:xfrm>
        </p:grpSpPr>
        <p:sp>
          <p:nvSpPr>
            <p:cNvPr id="28" name="TextBox 28"/>
            <p:cNvSpPr txBox="1"/>
            <p:nvPr/>
          </p:nvSpPr>
          <p:spPr>
            <a:xfrm>
              <a:off x="525780" y="5267325"/>
              <a:ext cx="95362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策略结论：query frame 应同时覆盖中心帧、高质量帧和 novelty 帧；若 avg track length 下降则回退。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6542" y="6236018"/>
              <a:ext cx="7165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parameters: --query-frame-num / --max-query-pts / --query-frame-strategy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P12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11824490" cy="806959"/>
            <a:chOff x="518922" y="473392"/>
            <a:chExt cx="11824490" cy="806959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118244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改进方法四：两阶段 BA 过滤，再用 mask-aware 3DGS 压制毛刺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592" y="1016318"/>
              <a:ext cx="4967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TWO-STAGE BA FILTER + MASK-AWARE GAUSSIAN TRAINING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524000"/>
            <a:ext cx="11125200" cy="1619250"/>
            <a:chOff x="533400" y="1524000"/>
            <a:chExt cx="11125200" cy="1619250"/>
          </a:xfrm>
        </p:grpSpPr>
        <p:sp>
          <p:nvSpPr>
            <p:cNvPr id="9" name="Rectangle 9"/>
            <p:cNvSpPr/>
            <p:nvPr/>
          </p:nvSpPr>
          <p:spPr>
            <a:xfrm>
              <a:off x="533400" y="1524000"/>
              <a:ext cx="2571750" cy="1619250"/>
            </a:xfrm>
            <a:prstGeom prst="roundRect">
              <a:avLst>
                <a:gd name="adj" fmla="val 4706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1530" y="1781175"/>
              <a:ext cx="78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STAGE 1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1530" y="2200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宽松建图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1530" y="25622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先保留足够 tracks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3105150" y="2333625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28575">
              <a:solidFill>
                <a:srgbClr val="7DD3FC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752850" y="221932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7145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038600" y="1524000"/>
              <a:ext cx="2571750" cy="1619250"/>
            </a:xfrm>
            <a:prstGeom prst="roundRect">
              <a:avLst>
                <a:gd name="adj" fmla="val 4706"/>
              </a:avLst>
            </a:prstGeom>
            <a:solidFill>
              <a:srgbClr val="0D2233"/>
            </a:solidFill>
            <a:ln w="14288">
              <a:solidFill>
                <a:srgbClr val="F59E0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16730" y="1781175"/>
              <a:ext cx="66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FILTER</a:t>
              </a:r>
              <a:endParaRPr lang="en-US" sz="1500" dirty="0">
                <a:solidFill>
                  <a:srgbClr val="F59E0B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16730" y="2200275"/>
              <a:ext cx="10349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去短 track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16730" y="25622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删高误差和离群点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610350" y="2333625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28575">
              <a:solidFill>
                <a:srgbClr val="7DD3F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7258050" y="221932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7145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43800" y="1524000"/>
              <a:ext cx="4114800" cy="1619250"/>
            </a:xfrm>
            <a:prstGeom prst="roundRect">
              <a:avLst>
                <a:gd name="adj" fmla="val 4706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21930" y="1781175"/>
              <a:ext cx="1498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STAGE 2 + 3DGS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1930" y="2200275"/>
              <a:ext cx="23049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重新 BA 后训练 Gaussian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21930" y="2562225"/>
              <a:ext cx="34454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前景 mask 约束 RGB，背景约束 alpha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3400" y="3540760"/>
            <a:ext cx="11125200" cy="1905635"/>
            <a:chOff x="533400" y="3540760"/>
            <a:chExt cx="11125200" cy="1905635"/>
          </a:xfrm>
        </p:grpSpPr>
        <p:sp>
          <p:nvSpPr>
            <p:cNvPr id="26" name="Rectangle 26"/>
            <p:cNvSpPr/>
            <p:nvPr/>
          </p:nvSpPr>
          <p:spPr>
            <a:xfrm>
              <a:off x="533400" y="3619500"/>
              <a:ext cx="4953000" cy="1619250"/>
            </a:xfrm>
            <a:prstGeom prst="roundRect">
              <a:avLst>
                <a:gd name="adj" fmla="val 4706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1530" y="3857625"/>
              <a:ext cx="1594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OBSERVED ISSUE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1530" y="42767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毛刺通常来自外点、背景点和不一致相机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1530" y="4657725"/>
              <a:ext cx="34899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只延长 3DGS steps 不能根治错误几何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981700" y="3619500"/>
              <a:ext cx="5676900" cy="1619250"/>
            </a:xfrm>
            <a:prstGeom prst="roundRect">
              <a:avLst>
                <a:gd name="adj" fmla="val 4706"/>
              </a:avLst>
            </a:prstGeom>
            <a:solidFill>
              <a:srgbClr val="0D2233"/>
            </a:solidFill>
            <a:ln w="14288">
              <a:solidFill>
                <a:srgbClr val="F59E0B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762750" y="3540760"/>
              <a:ext cx="4114165" cy="1905635"/>
            </a:xfrm>
            <a:prstGeom prst="rect">
              <a:avLst/>
            </a:prstGeom>
          </p:spPr>
        </p:pic>
      </p:grpSp>
      <p:grpSp>
        <p:nvGrpSpPr>
          <p:cNvPr id="35" name="Group 35"/>
          <p:cNvGrpSpPr/>
          <p:nvPr/>
        </p:nvGrpSpPr>
        <p:grpSpPr>
          <a:xfrm>
            <a:off x="525780" y="5476875"/>
            <a:ext cx="7971282" cy="617220"/>
            <a:chOff x="525780" y="5476875"/>
            <a:chExt cx="7971282" cy="617220"/>
          </a:xfrm>
        </p:grpSpPr>
        <p:sp>
          <p:nvSpPr>
            <p:cNvPr id="33" name="TextBox 33"/>
            <p:cNvSpPr txBox="1"/>
            <p:nvPr/>
          </p:nvSpPr>
          <p:spPr>
            <a:xfrm>
              <a:off x="525780" y="5476875"/>
              <a:ext cx="7971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数据：two-stage 过滤去掉 4875 个弱点；数据1/2 mask-aware 训练已接入前景监督。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5780" y="5800725"/>
              <a:ext cx="50483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最终主线是：先让几何可信，再让 Gaussian 学习表面。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6542" y="6236018"/>
            <a:ext cx="11017606" cy="264033"/>
            <a:chOff x="526542" y="6236018"/>
            <a:chExt cx="11017606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526542" y="6236018"/>
              <a:ext cx="734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implemented: mask-aware RGB loss and background alpha penalty for data1 / data2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P13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473392"/>
            <a:ext cx="9294514" cy="806959"/>
            <a:chOff x="518922" y="473392"/>
            <a:chExt cx="9294514" cy="806959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473392"/>
              <a:ext cx="929451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未来可开展的研究方向：把失败信号前移到几何阶段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592" y="1016318"/>
              <a:ext cx="6494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NEXT STEPS / ROBUST GEOMETRY / CONFIDENCE-AWARE GAUSSIAN TRAINING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1562100"/>
            <a:ext cx="11781282" cy="3581400"/>
            <a:chOff x="533400" y="1562100"/>
            <a:chExt cx="11781282" cy="3581400"/>
          </a:xfrm>
        </p:grpSpPr>
        <p:sp>
          <p:nvSpPr>
            <p:cNvPr id="9" name="Rectangle 9"/>
            <p:cNvSpPr/>
            <p:nvPr/>
          </p:nvSpPr>
          <p:spPr>
            <a:xfrm>
              <a:off x="533400" y="1562100"/>
              <a:ext cx="5238750" cy="1581150"/>
            </a:xfrm>
            <a:prstGeom prst="roundRect">
              <a:avLst>
                <a:gd name="adj" fmla="val 4819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42950" y="1781175"/>
              <a:ext cx="342900" cy="3429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9630" y="18573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71521"/>
                  </a:solidFill>
                  <a:latin typeface="Consolas"/>
                  <a:ea typeface="Consolas"/>
                  <a:cs typeface="Consolas"/>
                </a:rPr>
                <a:t>1</a:t>
              </a:r>
              <a:endParaRPr lang="en-US" sz="1500" b="1" dirty="0">
                <a:solidFill>
                  <a:srgbClr val="071521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49680" y="1838325"/>
              <a:ext cx="42239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帧选择从 quality-only 改为 overlap-aware</a:t>
              </a:r>
              <a:endParaRPr lang="zh-CN" sz="1500" b="1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49680" y="22383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同时约束清晰度、视差和共同可见区域。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9680" y="2581275"/>
              <a:ext cx="48413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目标是避免 anchor 实验中“有 tracks 但建图失败”。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19850" y="1562100"/>
              <a:ext cx="5238750" cy="1581150"/>
            </a:xfrm>
            <a:prstGeom prst="roundRect">
              <a:avLst>
                <a:gd name="adj" fmla="val 4819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629400" y="1781175"/>
              <a:ext cx="342900" cy="3429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36080" y="18573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71521"/>
                  </a:solidFill>
                  <a:latin typeface="Consolas"/>
                  <a:ea typeface="Consolas"/>
                  <a:cs typeface="Consolas"/>
                </a:rPr>
                <a:t>2</a:t>
              </a:r>
              <a:endParaRPr lang="en-US" sz="1500" b="1" dirty="0">
                <a:solidFill>
                  <a:srgbClr val="071521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6130" y="1838325"/>
              <a:ext cx="25915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VGGT 输出加入置信度传播</a:t>
              </a:r>
              <a:endParaRPr lang="zh-CN" sz="1500" b="1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6130" y="2238375"/>
              <a:ext cx="47703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把深度、点图和 tracks 的不确定性写入 COLMAP。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6130" y="2581275"/>
              <a:ext cx="5178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BA 和 3DGS 根据置信度调整权重，而不是硬阈值删除。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62350"/>
              <a:ext cx="5238750" cy="1581150"/>
            </a:xfrm>
            <a:prstGeom prst="roundRect">
              <a:avLst>
                <a:gd name="adj" fmla="val 4819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42950" y="3781425"/>
              <a:ext cx="342900" cy="3429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9630" y="38576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71521"/>
                  </a:solidFill>
                  <a:latin typeface="Consolas"/>
                  <a:ea typeface="Consolas"/>
                  <a:cs typeface="Consolas"/>
                </a:rPr>
                <a:t>3</a:t>
              </a:r>
              <a:endParaRPr lang="en-US" sz="1500" b="1" dirty="0">
                <a:solidFill>
                  <a:srgbClr val="071521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49680" y="3838575"/>
              <a:ext cx="3689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鲁棒 BA：从一次过滤升级为迭代诊断</a:t>
              </a:r>
              <a:endParaRPr lang="zh-CN" sz="1500" b="1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49680" y="4238625"/>
              <a:ext cx="4205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按 image、track、空间簇统计残差和连接度。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49680" y="4581525"/>
              <a:ext cx="4730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自动定位坏帧、短 track 和漂浮簇，再局部重优化。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19850" y="3562350"/>
              <a:ext cx="5238750" cy="1581150"/>
            </a:xfrm>
            <a:prstGeom prst="roundRect">
              <a:avLst>
                <a:gd name="adj" fmla="val 4819"/>
              </a:avLst>
            </a:prstGeom>
            <a:solidFill>
              <a:srgbClr val="0D2233"/>
            </a:solidFill>
            <a:ln w="14288">
              <a:solidFill>
                <a:srgbClr val="F59E0B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629400" y="3781425"/>
              <a:ext cx="342900" cy="3429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36080" y="38576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71521"/>
                  </a:solidFill>
                  <a:latin typeface="Consolas"/>
                  <a:ea typeface="Consolas"/>
                  <a:cs typeface="Consolas"/>
                </a:rPr>
                <a:t>4</a:t>
              </a:r>
              <a:endParaRPr lang="en-US" sz="1500" b="1" dirty="0">
                <a:solidFill>
                  <a:srgbClr val="071521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36130" y="3838575"/>
              <a:ext cx="3039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3DGS 训练加入几何一致性监控</a:t>
              </a:r>
              <a:endParaRPr lang="zh-CN" sz="1500" b="1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6130" y="4238625"/>
              <a:ext cx="22860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把毛刺判定转为可观测指标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36130" y="4581525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viewer 中联动指标筛选，形成训练-诊断闭环。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5780" y="5667375"/>
            <a:ext cx="11018368" cy="832676"/>
            <a:chOff x="525780" y="5667375"/>
            <a:chExt cx="11018368" cy="832676"/>
          </a:xfrm>
        </p:grpSpPr>
        <p:sp>
          <p:nvSpPr>
            <p:cNvPr id="34" name="TextBox 34"/>
            <p:cNvSpPr txBox="1"/>
            <p:nvPr/>
          </p:nvSpPr>
          <p:spPr>
            <a:xfrm>
              <a:off x="525780" y="5667375"/>
              <a:ext cx="83952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核心思路：不要等到最终渲染才发现毛刺，而是在 frame、track、BA 和 Gaussian 四个阶段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5780" y="59721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持续量化风险，并把风险反馈给下一轮重建。</a:t>
              </a:r>
              <a:endParaRPr lang="zh-CN" sz="1500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6542" y="6236018"/>
              <a:ext cx="7969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research plan: overlap sampling / uncertainty propagation / BA diagnostics / robust 3DGS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P14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7152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857250"/>
              <a:ext cx="12192000" cy="5143500"/>
            </a:xfrm>
            <a:custGeom>
              <a:avLst/>
              <a:gdLst/>
              <a:ahLst/>
              <a:cxnLst/>
              <a:rect l="l" t="t" r="r" b="b"/>
              <a:pathLst>
                <a:path w="12192000" h="5143500">
                  <a:moveTo>
                    <a:pt x="0" y="0"/>
                  </a:moveTo>
                  <a:lnTo>
                    <a:pt x="12192000" y="0"/>
                  </a:lnTo>
                  <a:moveTo>
                    <a:pt x="0" y="857250"/>
                  </a:moveTo>
                  <a:lnTo>
                    <a:pt x="12192000" y="857250"/>
                  </a:lnTo>
                  <a:moveTo>
                    <a:pt x="0" y="1714500"/>
                  </a:moveTo>
                  <a:lnTo>
                    <a:pt x="12192000" y="1714500"/>
                  </a:lnTo>
                  <a:moveTo>
                    <a:pt x="0" y="2571750"/>
                  </a:moveTo>
                  <a:lnTo>
                    <a:pt x="12192000" y="257175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286250"/>
                  </a:moveTo>
                  <a:lnTo>
                    <a:pt x="12192000" y="4286250"/>
                  </a:lnTo>
                  <a:moveTo>
                    <a:pt x="0" y="5143500"/>
                  </a:moveTo>
                  <a:lnTo>
                    <a:pt x="12192000" y="51435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914400" y="0"/>
              <a:ext cx="10058400" cy="6858000"/>
            </a:xfrm>
            <a:custGeom>
              <a:avLst/>
              <a:gdLst/>
              <a:ahLst/>
              <a:cxnLst/>
              <a:rect l="l" t="t" r="r" b="b"/>
              <a:pathLst>
                <a:path w="10058400" h="6858000">
                  <a:moveTo>
                    <a:pt x="0" y="0"/>
                  </a:moveTo>
                  <a:lnTo>
                    <a:pt x="0" y="6858000"/>
                  </a:lnTo>
                  <a:moveTo>
                    <a:pt x="914400" y="0"/>
                  </a:moveTo>
                  <a:lnTo>
                    <a:pt x="914400" y="6858000"/>
                  </a:lnTo>
                  <a:moveTo>
                    <a:pt x="1828800" y="0"/>
                  </a:moveTo>
                  <a:lnTo>
                    <a:pt x="1828800" y="6858000"/>
                  </a:lnTo>
                  <a:moveTo>
                    <a:pt x="2743200" y="0"/>
                  </a:moveTo>
                  <a:lnTo>
                    <a:pt x="2743200" y="6858000"/>
                  </a:lnTo>
                  <a:moveTo>
                    <a:pt x="3657600" y="0"/>
                  </a:moveTo>
                  <a:lnTo>
                    <a:pt x="36576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486400" y="0"/>
                  </a:moveTo>
                  <a:lnTo>
                    <a:pt x="5486400" y="6858000"/>
                  </a:lnTo>
                  <a:moveTo>
                    <a:pt x="6400800" y="0"/>
                  </a:moveTo>
                  <a:lnTo>
                    <a:pt x="6400800" y="6858000"/>
                  </a:lnTo>
                  <a:moveTo>
                    <a:pt x="7315200" y="0"/>
                  </a:moveTo>
                  <a:lnTo>
                    <a:pt x="7315200" y="6858000"/>
                  </a:lnTo>
                  <a:moveTo>
                    <a:pt x="8229600" y="0"/>
                  </a:moveTo>
                  <a:lnTo>
                    <a:pt x="82296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058400" y="0"/>
                  </a:moveTo>
                  <a:lnTo>
                    <a:pt x="10058400" y="6858000"/>
                  </a:lnTo>
                </a:path>
              </a:pathLst>
            </a:custGeom>
            <a:noFill/>
            <a:ln w="9525">
              <a:solidFill>
                <a:srgbClr val="153247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8922" y="568642"/>
            <a:ext cx="9880167" cy="806959"/>
            <a:chOff x="518922" y="568642"/>
            <a:chExt cx="9880167" cy="806959"/>
          </a:xfrm>
        </p:grpSpPr>
        <p:sp>
          <p:nvSpPr>
            <p:cNvPr id="6" name="TextBox 6"/>
            <p:cNvSpPr txBox="1"/>
            <p:nvPr/>
          </p:nvSpPr>
          <p:spPr>
            <a:xfrm>
              <a:off x="518922" y="568642"/>
              <a:ext cx="988016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5F2FF"/>
                  </a:solidFill>
                  <a:latin typeface="Segoe UI"/>
                  <a:ea typeface="微软雅黑"/>
                  <a:cs typeface="Segoe UI"/>
                </a:rPr>
                <a:t>总结：从无标定图像到可交互 3D Gaussian 的完整闭环</a:t>
              </a:r>
              <a:endParaRPr lang="zh-CN" sz="2850" b="1" dirty="0">
                <a:solidFill>
                  <a:srgbClr val="E5F2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592" y="1111568"/>
              <a:ext cx="6350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VGGT INITIALIZATION / COLMAP BA / GSPLAT TRAINING / BROWSER VIEWER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38200" y="1695450"/>
            <a:ext cx="10515600" cy="1123950"/>
            <a:chOff x="838200" y="1695450"/>
            <a:chExt cx="10515600" cy="1123950"/>
          </a:xfrm>
        </p:grpSpPr>
        <p:sp>
          <p:nvSpPr>
            <p:cNvPr id="9" name="Rectangle 9"/>
            <p:cNvSpPr/>
            <p:nvPr/>
          </p:nvSpPr>
          <p:spPr>
            <a:xfrm>
              <a:off x="838200" y="1695450"/>
              <a:ext cx="10515600" cy="1123950"/>
            </a:xfrm>
            <a:prstGeom prst="roundRect">
              <a:avLst>
                <a:gd name="adj" fmla="val 6780"/>
              </a:avLst>
            </a:prstGeom>
            <a:solidFill>
              <a:srgbClr val="0D2233"/>
            </a:solidFill>
            <a:ln w="14288">
              <a:solidFill>
                <a:srgbClr val="F59E0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1983105"/>
              <a:ext cx="76500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本项目完成的是一条可复现实验链路，而不是单点 demo。</a:t>
              </a:r>
              <a:endParaRPr lang="zh-CN" sz="2100" b="1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11580" y="2409825"/>
              <a:ext cx="8779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每个阶段都有标准文件输出、可跳过重跑、可记录日志，并能在 viewer 中直接验证 checkpoint。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8200" y="3276600"/>
            <a:ext cx="10515600" cy="1674495"/>
            <a:chOff x="838200" y="3276600"/>
            <a:chExt cx="10515600" cy="1674495"/>
          </a:xfrm>
        </p:grpSpPr>
        <p:sp>
          <p:nvSpPr>
            <p:cNvPr id="13" name="Rectangle 13"/>
            <p:cNvSpPr/>
            <p:nvPr/>
          </p:nvSpPr>
          <p:spPr>
            <a:xfrm>
              <a:off x="838200" y="3276600"/>
              <a:ext cx="3105150" cy="1619250"/>
            </a:xfrm>
            <a:prstGeom prst="roundRect">
              <a:avLst>
                <a:gd name="adj" fmla="val 4706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5380" y="3552825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TAKEAWAY 01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5380" y="39719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几何质量决定上限</a:t>
              </a:r>
              <a:endParaRPr lang="zh-CN" sz="1500" b="1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5380" y="4352925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tracks、相机和点云一致性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5380" y="4657725"/>
              <a:ext cx="2509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比单纯增加 steps 更关键。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543425" y="3276600"/>
              <a:ext cx="3105150" cy="1619250"/>
            </a:xfrm>
            <a:prstGeom prst="roundRect">
              <a:avLst>
                <a:gd name="adj" fmla="val 4706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0605" y="3552825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TAKEAWAY 02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40605" y="3971925"/>
              <a:ext cx="1673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BA 需要质量门控</a:t>
              </a:r>
              <a:endParaRPr lang="zh-CN" sz="1500" b="1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40605" y="4352925"/>
              <a:ext cx="2255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它能提升 3DGS，前提是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40605" y="4657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输入观测关系足够可靠。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248650" y="3276600"/>
              <a:ext cx="3105150" cy="1619250"/>
            </a:xfrm>
            <a:prstGeom prst="roundRect">
              <a:avLst>
                <a:gd name="adj" fmla="val 4706"/>
              </a:avLst>
            </a:prstGeom>
            <a:solidFill>
              <a:srgbClr val="0D2233"/>
            </a:solidFill>
            <a:ln w="14288">
              <a:solidFill>
                <a:srgbClr val="2B557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45830" y="3552825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TAKEAWAY 03</a:t>
              </a:r>
              <a:endParaRPr lang="en-US" sz="1500" dirty="0">
                <a:solidFill>
                  <a:srgbClr val="7DD3FC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45830" y="39719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交互验证很重要</a:t>
              </a:r>
              <a:endParaRPr lang="zh-CN" sz="1500" b="1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45830" y="4352925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viewer 已支持 checkpoint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45830" y="4657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FE8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热更新和多数据集切换。</a:t>
              </a:r>
              <a:endParaRPr lang="zh-CN" sz="1500" dirty="0">
                <a:solidFill>
                  <a:srgbClr val="BFE8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29056" y="5562600"/>
            <a:ext cx="10524744" cy="824484"/>
            <a:chOff x="829056" y="5562600"/>
            <a:chExt cx="10524744" cy="824484"/>
          </a:xfrm>
        </p:grpSpPr>
        <p:sp>
          <p:nvSpPr>
            <p:cNvPr id="29" name="Line 29"/>
            <p:cNvSpPr/>
            <p:nvPr/>
          </p:nvSpPr>
          <p:spPr>
            <a:xfrm>
              <a:off x="838200" y="55626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4288">
              <a:solidFill>
                <a:srgbClr val="2B557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9056" y="5711190"/>
              <a:ext cx="61342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后续工作会围绕“更稳的 VGGT 几何、更鲁棒的 BA、</a:t>
              </a:r>
              <a:endParaRPr lang="zh-CN" sz="1800" b="1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056" y="6035040"/>
              <a:ext cx="44137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5F2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更可解释的 3DGS 去毛刺”继续推进。</a:t>
              </a:r>
              <a:endParaRPr lang="zh-CN" sz="1800" b="1" dirty="0">
                <a:solidFill>
                  <a:srgbClr val="E5F2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6542" y="6236018"/>
            <a:ext cx="11017606" cy="416433"/>
            <a:chOff x="526542" y="6236018"/>
            <a:chExt cx="11017606" cy="416433"/>
          </a:xfrm>
        </p:grpSpPr>
        <p:sp>
          <p:nvSpPr>
            <p:cNvPr id="33" name="TextBox 33"/>
            <p:cNvSpPr txBox="1"/>
            <p:nvPr/>
          </p:nvSpPr>
          <p:spPr>
            <a:xfrm>
              <a:off x="526542" y="6388418"/>
              <a:ext cx="7910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final message: reproducible pipeline with measurable geometry and interactive validation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13592" y="6236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CA7BD"/>
                  </a:solidFill>
                  <a:latin typeface="Consolas"/>
                  <a:ea typeface="Consolas"/>
                  <a:cs typeface="Consolas"/>
                </a:rPr>
                <a:t>P15</a:t>
              </a:r>
              <a:endParaRPr lang="en-US" sz="1350" dirty="0">
                <a:solidFill>
                  <a:srgbClr val="7CA7BD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5817</Words>
  <Application>WPS 表格</Application>
  <PresentationFormat>On-screen Show (16:9)</PresentationFormat>
  <Paragraphs>479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5" baseType="lpstr">
      <vt:lpstr>Arial</vt:lpstr>
      <vt:lpstr>宋体</vt:lpstr>
      <vt:lpstr>Wingdings</vt:lpstr>
      <vt:lpstr>Arial</vt:lpstr>
      <vt:lpstr>Segoe UI</vt:lpstr>
      <vt:lpstr>Thonburi</vt:lpstr>
      <vt:lpstr>微软雅黑</vt:lpstr>
      <vt:lpstr>Consolas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Consolas</vt:lpstr>
      <vt:lpstr>Segoe UI</vt:lpstr>
      <vt:lpstr>微软雅黑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dijkstra0x3</cp:lastModifiedBy>
  <cp:revision>14</cp:revision>
  <dcterms:created xsi:type="dcterms:W3CDTF">2026-07-02T10:33:07Z</dcterms:created>
  <dcterms:modified xsi:type="dcterms:W3CDTF">2026-07-02T10:33:07Z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30D9E58F8589A609743A466AB2B6E193_43</vt:lpwstr>
  </property>
  <property fmtid="{D5CDD505-2E9C-101B-9397-08002B2CF9AE}" pid="3" name="KSOProductBuildVer">
    <vt:lpwstr>2052-12.1.25867.25867</vt:lpwstr>
  </property>
</Properties>
</file>